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Rubik" pitchFamily="2" charset="-79"/>
      <p:regular r:id="rId11"/>
    </p:embeddedFont>
    <p:embeddedFont>
      <p:font typeface="Rubik Bold" pitchFamily="2" charset="-79"/>
      <p:regular r:id="rId12"/>
    </p:embeddedFont>
    <p:embeddedFont>
      <p:font typeface="Rubik Italics" panose="020B0604020202020204" charset="-79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4F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46" d="100"/>
          <a:sy n="46" d="100"/>
        </p:scale>
        <p:origin x="540" y="-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27.05.2026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view.genially.com/6a09f04598b4f973a50ec71b" TargetMode="External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10.svg"/><Relationship Id="rId4" Type="http://schemas.openxmlformats.org/officeDocument/2006/relationships/hyperlink" Target="https://view.genially.com/6a0765879b64b7cb286d5843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jpe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gemini.google.com/gem/1c7ce541c170?usp=sharing" TargetMode="External"/><Relationship Id="rId3" Type="http://schemas.openxmlformats.org/officeDocument/2006/relationships/image" Target="../media/image8.svg"/><Relationship Id="rId7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18.png"/><Relationship Id="rId5" Type="http://schemas.openxmlformats.org/officeDocument/2006/relationships/image" Target="../media/image15.svg"/><Relationship Id="rId10" Type="http://schemas.openxmlformats.org/officeDocument/2006/relationships/hyperlink" Target="https://ed9-bot.github.io/portelem-guide-game/guide.html" TargetMode="External"/><Relationship Id="rId4" Type="http://schemas.openxmlformats.org/officeDocument/2006/relationships/image" Target="../media/image7.svg"/><Relationship Id="rId9" Type="http://schemas.openxmlformats.org/officeDocument/2006/relationships/hyperlink" Target="https://docs.google.com/document/d/1kNhj-cknmVTecZ4ioIdn0lQ_V52jtEiS/edit?usp=sharing&amp;ouid=101036981937222449313&amp;rtpof=true&amp;sd=true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gemini.google.com/app" TargetMode="External"/><Relationship Id="rId13" Type="http://schemas.openxmlformats.org/officeDocument/2006/relationships/image" Target="../media/image15.svg"/><Relationship Id="rId3" Type="http://schemas.openxmlformats.org/officeDocument/2006/relationships/hyperlink" Target="https://portelem.telem-hit.net" TargetMode="External"/><Relationship Id="rId7" Type="http://schemas.openxmlformats.org/officeDocument/2006/relationships/hyperlink" Target="https://antigravity.google" TargetMode="External"/><Relationship Id="rId12" Type="http://schemas.openxmlformats.org/officeDocument/2006/relationships/hyperlink" Target="https://www.blooket.com" TargetMode="External"/><Relationship Id="rId2" Type="http://schemas.openxmlformats.org/officeDocument/2006/relationships/image" Target="../media/image1.jpeg"/><Relationship Id="rId16" Type="http://schemas.openxmlformats.org/officeDocument/2006/relationships/image" Target="../media/image10.sv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educaplay.com" TargetMode="External"/><Relationship Id="rId11" Type="http://schemas.openxmlformats.org/officeDocument/2006/relationships/hyperlink" Target="https://www.flippity.net" TargetMode="External"/><Relationship Id="rId5" Type="http://schemas.openxmlformats.org/officeDocument/2006/relationships/hyperlink" Target="https://wordwall.net" TargetMode="External"/><Relationship Id="rId15" Type="http://schemas.openxmlformats.org/officeDocument/2006/relationships/image" Target="../media/image7.svg"/><Relationship Id="rId10" Type="http://schemas.openxmlformats.org/officeDocument/2006/relationships/hyperlink" Target="https://rosebud.ai" TargetMode="External"/><Relationship Id="rId4" Type="http://schemas.openxmlformats.org/officeDocument/2006/relationships/hyperlink" Target="https://app.genially.com/?from=login-true" TargetMode="External"/><Relationship Id="rId9" Type="http://schemas.openxmlformats.org/officeDocument/2006/relationships/hyperlink" Target="https://claude.com/product/claude-code" TargetMode="External"/><Relationship Id="rId1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svg"/><Relationship Id="rId3" Type="http://schemas.openxmlformats.org/officeDocument/2006/relationships/image" Target="../media/image19.png"/><Relationship Id="rId7" Type="http://schemas.openxmlformats.org/officeDocument/2006/relationships/image" Target="../media/image23.svg"/><Relationship Id="rId12" Type="http://schemas.openxmlformats.org/officeDocument/2006/relationships/image" Target="../media/image28.svg"/><Relationship Id="rId17" Type="http://schemas.openxmlformats.org/officeDocument/2006/relationships/image" Target="../media/image33.svg"/><Relationship Id="rId2" Type="http://schemas.openxmlformats.org/officeDocument/2006/relationships/image" Target="../media/image1.jpeg"/><Relationship Id="rId16" Type="http://schemas.openxmlformats.org/officeDocument/2006/relationships/image" Target="../media/image3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svg"/><Relationship Id="rId11" Type="http://schemas.openxmlformats.org/officeDocument/2006/relationships/image" Target="../media/image27.svg"/><Relationship Id="rId5" Type="http://schemas.openxmlformats.org/officeDocument/2006/relationships/image" Target="../media/image21.png"/><Relationship Id="rId15" Type="http://schemas.openxmlformats.org/officeDocument/2006/relationships/image" Target="../media/image31.svg"/><Relationship Id="rId10" Type="http://schemas.openxmlformats.org/officeDocument/2006/relationships/image" Target="../media/image26.svg"/><Relationship Id="rId4" Type="http://schemas.openxmlformats.org/officeDocument/2006/relationships/image" Target="../media/image20.png"/><Relationship Id="rId9" Type="http://schemas.openxmlformats.org/officeDocument/2006/relationships/image" Target="../media/image25.svg"/><Relationship Id="rId14" Type="http://schemas.openxmlformats.org/officeDocument/2006/relationships/image" Target="../media/image3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padlet.com/galgrossman2/padlet-6vwswm73ukuz5kin" TargetMode="External"/><Relationship Id="rId5" Type="http://schemas.openxmlformats.org/officeDocument/2006/relationships/image" Target="../media/image34.png"/><Relationship Id="rId4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128" b="-10128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TextBox 3"/>
          <p:cNvSpPr txBox="1"/>
          <p:nvPr/>
        </p:nvSpPr>
        <p:spPr>
          <a:xfrm>
            <a:off x="2294394" y="4153871"/>
            <a:ext cx="8331898" cy="1405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3600"/>
              </a:lnSpc>
            </a:pPr>
            <a:r>
              <a:rPr lang="he-IL" sz="3600" spc="-72">
                <a:solidFill>
                  <a:srgbClr val="264F73"/>
                </a:solidFill>
                <a:latin typeface="Rubik"/>
                <a:ea typeface="Rubik"/>
                <a:cs typeface="Rubik"/>
                <a:sym typeface="Rubik"/>
                <a:rtl/>
              </a:rPr>
              <a:t>בשקפים הבאים תוכלו למצוא תכנים לימודיים,</a:t>
            </a:r>
          </a:p>
          <a:p>
            <a:pPr algn="r" rtl="1">
              <a:lnSpc>
                <a:spcPts val="3600"/>
              </a:lnSpc>
              <a:spcBef>
                <a:spcPct val="0"/>
              </a:spcBef>
            </a:pPr>
            <a:r>
              <a:rPr lang="he-IL" sz="3600" spc="-72">
                <a:solidFill>
                  <a:srgbClr val="264F73"/>
                </a:solidFill>
                <a:latin typeface="Rubik"/>
                <a:ea typeface="Rubik"/>
                <a:cs typeface="Rubik"/>
                <a:sym typeface="Rubik"/>
                <a:rtl/>
              </a:rPr>
              <a:t>עזרי עבודה וארגז כלים ייעודי שהכנו בשבילכם שישמש אתכם לשיעור פרטי מבוסס משחק </a:t>
            </a:r>
          </a:p>
        </p:txBody>
      </p:sp>
      <p:sp>
        <p:nvSpPr>
          <p:cNvPr id="4" name="Freeform 4"/>
          <p:cNvSpPr/>
          <p:nvPr/>
        </p:nvSpPr>
        <p:spPr>
          <a:xfrm>
            <a:off x="0" y="6563733"/>
            <a:ext cx="3957851" cy="3723267"/>
          </a:xfrm>
          <a:custGeom>
            <a:avLst/>
            <a:gdLst/>
            <a:ahLst/>
            <a:cxnLst/>
            <a:rect l="l" t="t" r="r" b="b"/>
            <a:pathLst>
              <a:path w="3957851" h="3723267">
                <a:moveTo>
                  <a:pt x="0" y="0"/>
                </a:moveTo>
                <a:lnTo>
                  <a:pt x="3957851" y="0"/>
                </a:lnTo>
                <a:lnTo>
                  <a:pt x="3957851" y="3723267"/>
                </a:lnTo>
                <a:lnTo>
                  <a:pt x="0" y="37232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905" t="-39430" r="-206716" b="-66016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5" name="Freeform 5"/>
          <p:cNvSpPr/>
          <p:nvPr/>
        </p:nvSpPr>
        <p:spPr>
          <a:xfrm flipH="1">
            <a:off x="15722921" y="274649"/>
            <a:ext cx="2221607" cy="2482243"/>
          </a:xfrm>
          <a:custGeom>
            <a:avLst/>
            <a:gdLst/>
            <a:ahLst/>
            <a:cxnLst/>
            <a:rect l="l" t="t" r="r" b="b"/>
            <a:pathLst>
              <a:path w="2221607" h="2482243">
                <a:moveTo>
                  <a:pt x="2221608" y="0"/>
                </a:moveTo>
                <a:lnTo>
                  <a:pt x="0" y="0"/>
                </a:lnTo>
                <a:lnTo>
                  <a:pt x="0" y="2482242"/>
                </a:lnTo>
                <a:lnTo>
                  <a:pt x="2221608" y="2482242"/>
                </a:lnTo>
                <a:lnTo>
                  <a:pt x="2221608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6" name="Freeform 6"/>
          <p:cNvSpPr/>
          <p:nvPr/>
        </p:nvSpPr>
        <p:spPr>
          <a:xfrm>
            <a:off x="1978926" y="1883054"/>
            <a:ext cx="13526726" cy="4680679"/>
          </a:xfrm>
          <a:custGeom>
            <a:avLst/>
            <a:gdLst/>
            <a:ahLst/>
            <a:cxnLst/>
            <a:rect l="l" t="t" r="r" b="b"/>
            <a:pathLst>
              <a:path w="13526726" h="4680679">
                <a:moveTo>
                  <a:pt x="0" y="4680679"/>
                </a:moveTo>
                <a:lnTo>
                  <a:pt x="0" y="1928890"/>
                </a:lnTo>
                <a:cubicBezTo>
                  <a:pt x="0" y="1849983"/>
                  <a:pt x="63967" y="1786015"/>
                  <a:pt x="142875" y="1786015"/>
                </a:cubicBezTo>
                <a:lnTo>
                  <a:pt x="9335097" y="1786015"/>
                </a:lnTo>
                <a:cubicBezTo>
                  <a:pt x="9414004" y="1786015"/>
                  <a:pt x="9477972" y="1722048"/>
                  <a:pt x="9477972" y="1643140"/>
                </a:cubicBezTo>
                <a:lnTo>
                  <a:pt x="9477972" y="142875"/>
                </a:lnTo>
                <a:cubicBezTo>
                  <a:pt x="9477972" y="63967"/>
                  <a:pt x="9541939" y="0"/>
                  <a:pt x="9620847" y="0"/>
                </a:cubicBezTo>
                <a:lnTo>
                  <a:pt x="13526726" y="0"/>
                </a:lnTo>
              </a:path>
            </a:pathLst>
          </a:custGeom>
          <a:ln w="47625" cap="rnd">
            <a:solidFill>
              <a:srgbClr val="F2C762">
                <a:alpha val="80000"/>
              </a:srgbClr>
            </a:solidFill>
            <a:prstDash val="sysDash"/>
            <a:headEnd type="none" w="sm" len="sm"/>
            <a:tailEnd type="oval" w="lg" len="lg"/>
          </a:ln>
        </p:spPr>
        <p:txBody>
          <a:bodyPr/>
          <a:lstStyle/>
          <a:p>
            <a:endParaRPr lang="he-IL"/>
          </a:p>
        </p:txBody>
      </p:sp>
      <p:sp>
        <p:nvSpPr>
          <p:cNvPr id="7" name="TextBox 7"/>
          <p:cNvSpPr txBox="1"/>
          <p:nvPr/>
        </p:nvSpPr>
        <p:spPr>
          <a:xfrm>
            <a:off x="11892081" y="2233016"/>
            <a:ext cx="3285827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6000"/>
              </a:lnSpc>
              <a:spcBef>
                <a:spcPct val="0"/>
              </a:spcBef>
            </a:pPr>
            <a:r>
              <a:rPr lang="he-IL" sz="6000" b="1" spc="-120">
                <a:solidFill>
                  <a:srgbClr val="65A0B3"/>
                </a:solidFill>
                <a:latin typeface="Rubik Bold"/>
                <a:ea typeface="Rubik Bold"/>
                <a:cs typeface="Rubik Bold"/>
                <a:sym typeface="Rubik Bold"/>
                <a:rtl/>
              </a:rPr>
              <a:t>צידה לדרך</a:t>
            </a:r>
          </a:p>
        </p:txBody>
      </p:sp>
      <p:sp>
        <p:nvSpPr>
          <p:cNvPr id="8" name="Freeform 8"/>
          <p:cNvSpPr/>
          <p:nvPr/>
        </p:nvSpPr>
        <p:spPr>
          <a:xfrm>
            <a:off x="10388091" y="3042641"/>
            <a:ext cx="1626877" cy="1613142"/>
          </a:xfrm>
          <a:custGeom>
            <a:avLst/>
            <a:gdLst/>
            <a:ahLst/>
            <a:cxnLst/>
            <a:rect l="l" t="t" r="r" b="b"/>
            <a:pathLst>
              <a:path w="1626877" h="1613142">
                <a:moveTo>
                  <a:pt x="0" y="0"/>
                </a:moveTo>
                <a:lnTo>
                  <a:pt x="1626877" y="0"/>
                </a:lnTo>
                <a:lnTo>
                  <a:pt x="1626877" y="1613143"/>
                </a:lnTo>
                <a:lnTo>
                  <a:pt x="0" y="16131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9378" r="-81182" b="-117164"/>
            </a:stretch>
          </a:blipFill>
        </p:spPr>
        <p:txBody>
          <a:bodyPr/>
          <a:lstStyle/>
          <a:p>
            <a:endParaRPr lang="he-IL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128" b="-10128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/>
          <p:cNvSpPr/>
          <p:nvPr/>
        </p:nvSpPr>
        <p:spPr>
          <a:xfrm>
            <a:off x="-198637" y="8416879"/>
            <a:ext cx="2245963" cy="3108599"/>
          </a:xfrm>
          <a:custGeom>
            <a:avLst/>
            <a:gdLst/>
            <a:ahLst/>
            <a:cxnLst/>
            <a:rect l="l" t="t" r="r" b="b"/>
            <a:pathLst>
              <a:path w="2245963" h="3108599">
                <a:moveTo>
                  <a:pt x="0" y="0"/>
                </a:moveTo>
                <a:lnTo>
                  <a:pt x="2245963" y="0"/>
                </a:lnTo>
                <a:lnTo>
                  <a:pt x="2245963" y="3108599"/>
                </a:lnTo>
                <a:lnTo>
                  <a:pt x="0" y="31085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4" name="Freeform 4"/>
          <p:cNvSpPr/>
          <p:nvPr/>
        </p:nvSpPr>
        <p:spPr>
          <a:xfrm flipH="1">
            <a:off x="224532" y="6122277"/>
            <a:ext cx="2560538" cy="4401975"/>
          </a:xfrm>
          <a:custGeom>
            <a:avLst/>
            <a:gdLst/>
            <a:ahLst/>
            <a:cxnLst/>
            <a:rect l="l" t="t" r="r" b="b"/>
            <a:pathLst>
              <a:path w="2560538" h="4401975">
                <a:moveTo>
                  <a:pt x="2560538" y="0"/>
                </a:moveTo>
                <a:lnTo>
                  <a:pt x="0" y="0"/>
                </a:lnTo>
                <a:lnTo>
                  <a:pt x="0" y="4401975"/>
                </a:lnTo>
                <a:lnTo>
                  <a:pt x="2560538" y="4401975"/>
                </a:lnTo>
                <a:lnTo>
                  <a:pt x="2560538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5" name="Freeform 5"/>
          <p:cNvSpPr/>
          <p:nvPr/>
        </p:nvSpPr>
        <p:spPr>
          <a:xfrm>
            <a:off x="15300888" y="274777"/>
            <a:ext cx="382448" cy="382448"/>
          </a:xfrm>
          <a:custGeom>
            <a:avLst/>
            <a:gdLst/>
            <a:ahLst/>
            <a:cxnLst/>
            <a:rect l="l" t="t" r="r" b="b"/>
            <a:pathLst>
              <a:path w="382448" h="382448">
                <a:moveTo>
                  <a:pt x="0" y="0"/>
                </a:moveTo>
                <a:lnTo>
                  <a:pt x="382448" y="0"/>
                </a:lnTo>
                <a:lnTo>
                  <a:pt x="382448" y="382448"/>
                </a:lnTo>
                <a:lnTo>
                  <a:pt x="0" y="3824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6" name="Freeform 6"/>
          <p:cNvSpPr/>
          <p:nvPr/>
        </p:nvSpPr>
        <p:spPr>
          <a:xfrm>
            <a:off x="13851323" y="274777"/>
            <a:ext cx="382448" cy="382448"/>
          </a:xfrm>
          <a:custGeom>
            <a:avLst/>
            <a:gdLst/>
            <a:ahLst/>
            <a:cxnLst/>
            <a:rect l="l" t="t" r="r" b="b"/>
            <a:pathLst>
              <a:path w="382448" h="382448">
                <a:moveTo>
                  <a:pt x="0" y="0"/>
                </a:moveTo>
                <a:lnTo>
                  <a:pt x="382448" y="0"/>
                </a:lnTo>
                <a:lnTo>
                  <a:pt x="382448" y="382448"/>
                </a:lnTo>
                <a:lnTo>
                  <a:pt x="0" y="3824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7" name="Freeform 7"/>
          <p:cNvSpPr/>
          <p:nvPr/>
        </p:nvSpPr>
        <p:spPr>
          <a:xfrm>
            <a:off x="16876852" y="274777"/>
            <a:ext cx="382448" cy="382448"/>
          </a:xfrm>
          <a:custGeom>
            <a:avLst/>
            <a:gdLst/>
            <a:ahLst/>
            <a:cxnLst/>
            <a:rect l="l" t="t" r="r" b="b"/>
            <a:pathLst>
              <a:path w="382448" h="382448">
                <a:moveTo>
                  <a:pt x="0" y="0"/>
                </a:moveTo>
                <a:lnTo>
                  <a:pt x="382448" y="0"/>
                </a:lnTo>
                <a:lnTo>
                  <a:pt x="382448" y="382448"/>
                </a:lnTo>
                <a:lnTo>
                  <a:pt x="0" y="3824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8" name="TextBox 8"/>
          <p:cNvSpPr txBox="1"/>
          <p:nvPr/>
        </p:nvSpPr>
        <p:spPr>
          <a:xfrm>
            <a:off x="14078744" y="1114425"/>
            <a:ext cx="3180556" cy="761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5600"/>
              </a:lnSpc>
              <a:spcBef>
                <a:spcPct val="0"/>
              </a:spcBef>
            </a:pPr>
            <a:r>
              <a:rPr lang="he-IL" sz="5600" b="1" spc="-112" dirty="0">
                <a:solidFill>
                  <a:srgbClr val="264F73"/>
                </a:solidFill>
                <a:latin typeface="Rubik Bold"/>
                <a:ea typeface="Rubik Bold"/>
                <a:cs typeface="Rubik Bold"/>
                <a:sym typeface="Rubik Bold"/>
                <a:rtl/>
              </a:rPr>
              <a:t>תוכן לימודי</a:t>
            </a:r>
          </a:p>
        </p:txBody>
      </p:sp>
      <p:sp>
        <p:nvSpPr>
          <p:cNvPr id="10" name="AutoShape 10"/>
          <p:cNvSpPr/>
          <p:nvPr/>
        </p:nvSpPr>
        <p:spPr>
          <a:xfrm flipH="1" flipV="1">
            <a:off x="15683336" y="466001"/>
            <a:ext cx="1193516" cy="0"/>
          </a:xfrm>
          <a:prstGeom prst="line">
            <a:avLst/>
          </a:prstGeom>
          <a:ln w="47625" cap="rnd">
            <a:solidFill>
              <a:srgbClr val="F2C762">
                <a:alpha val="80000"/>
              </a:srgbClr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he-IL"/>
          </a:p>
        </p:txBody>
      </p:sp>
      <p:sp>
        <p:nvSpPr>
          <p:cNvPr id="11" name="AutoShape 11"/>
          <p:cNvSpPr/>
          <p:nvPr/>
        </p:nvSpPr>
        <p:spPr>
          <a:xfrm flipH="1">
            <a:off x="14233771" y="466001"/>
            <a:ext cx="1067117" cy="0"/>
          </a:xfrm>
          <a:prstGeom prst="line">
            <a:avLst/>
          </a:prstGeom>
          <a:ln w="47625" cap="rnd">
            <a:solidFill>
              <a:srgbClr val="F2C762">
                <a:alpha val="80000"/>
              </a:srgbClr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he-IL"/>
          </a:p>
        </p:txBody>
      </p:sp>
      <p:sp>
        <p:nvSpPr>
          <p:cNvPr id="12" name="AutoShape 12"/>
          <p:cNvSpPr/>
          <p:nvPr/>
        </p:nvSpPr>
        <p:spPr>
          <a:xfrm flipH="1">
            <a:off x="12784206" y="466001"/>
            <a:ext cx="1067117" cy="0"/>
          </a:xfrm>
          <a:prstGeom prst="line">
            <a:avLst/>
          </a:prstGeom>
          <a:ln w="47625" cap="rnd">
            <a:solidFill>
              <a:srgbClr val="F2C762">
                <a:alpha val="80000"/>
              </a:srgbClr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he-IL"/>
          </a:p>
        </p:txBody>
      </p:sp>
      <p:sp>
        <p:nvSpPr>
          <p:cNvPr id="13" name="Freeform 13"/>
          <p:cNvSpPr/>
          <p:nvPr/>
        </p:nvSpPr>
        <p:spPr>
          <a:xfrm>
            <a:off x="12401758" y="274777"/>
            <a:ext cx="382448" cy="382448"/>
          </a:xfrm>
          <a:custGeom>
            <a:avLst/>
            <a:gdLst/>
            <a:ahLst/>
            <a:cxnLst/>
            <a:rect l="l" t="t" r="r" b="b"/>
            <a:pathLst>
              <a:path w="382448" h="382448">
                <a:moveTo>
                  <a:pt x="0" y="0"/>
                </a:moveTo>
                <a:lnTo>
                  <a:pt x="382448" y="0"/>
                </a:lnTo>
                <a:lnTo>
                  <a:pt x="382448" y="382448"/>
                </a:lnTo>
                <a:lnTo>
                  <a:pt x="0" y="3824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4" name="AutoShape 14"/>
          <p:cNvSpPr/>
          <p:nvPr/>
        </p:nvSpPr>
        <p:spPr>
          <a:xfrm>
            <a:off x="17068076" y="657225"/>
            <a:ext cx="0" cy="601914"/>
          </a:xfrm>
          <a:prstGeom prst="line">
            <a:avLst/>
          </a:prstGeom>
          <a:ln w="47625" cap="rnd">
            <a:solidFill>
              <a:srgbClr val="F2C762">
                <a:alpha val="80000"/>
              </a:srgbClr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he-IL"/>
          </a:p>
        </p:txBody>
      </p:sp>
      <p:sp>
        <p:nvSpPr>
          <p:cNvPr id="15" name="TextBox 15"/>
          <p:cNvSpPr txBox="1"/>
          <p:nvPr/>
        </p:nvSpPr>
        <p:spPr>
          <a:xfrm>
            <a:off x="15164938" y="712470"/>
            <a:ext cx="654348" cy="163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1200"/>
              </a:lnSpc>
              <a:spcBef>
                <a:spcPct val="0"/>
              </a:spcBef>
            </a:pPr>
            <a:r>
              <a:rPr lang="he-IL" sz="1200" spc="-24">
                <a:solidFill>
                  <a:srgbClr val="264F73"/>
                </a:solidFill>
                <a:latin typeface="Rubik"/>
                <a:ea typeface="Rubik"/>
                <a:cs typeface="Rubik"/>
                <a:sym typeface="Rubik"/>
                <a:rtl/>
              </a:rPr>
              <a:t>עזרי עבודה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746181" y="712470"/>
            <a:ext cx="592733" cy="163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1200"/>
              </a:lnSpc>
              <a:spcBef>
                <a:spcPct val="0"/>
              </a:spcBef>
            </a:pPr>
            <a:r>
              <a:rPr lang="he-IL" sz="1200" spc="-24">
                <a:solidFill>
                  <a:srgbClr val="264F73"/>
                </a:solidFill>
                <a:latin typeface="Rubik"/>
                <a:ea typeface="Rubik"/>
                <a:cs typeface="Rubik"/>
                <a:sym typeface="Rubik"/>
                <a:rtl/>
              </a:rPr>
              <a:t>ארגז כלים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345679" y="712470"/>
            <a:ext cx="494605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1200"/>
              </a:lnSpc>
            </a:pPr>
            <a:r>
              <a:rPr lang="he-IL" sz="1200" spc="-24">
                <a:solidFill>
                  <a:srgbClr val="264F73"/>
                </a:solidFill>
                <a:latin typeface="Rubik"/>
                <a:ea typeface="Rubik"/>
                <a:cs typeface="Rubik"/>
                <a:sym typeface="Rubik"/>
                <a:rtl/>
              </a:rPr>
              <a:t>השראות</a:t>
            </a:r>
          </a:p>
          <a:p>
            <a:pPr algn="r" rtl="1">
              <a:lnSpc>
                <a:spcPts val="1200"/>
              </a:lnSpc>
              <a:spcBef>
                <a:spcPct val="0"/>
              </a:spcBef>
            </a:pPr>
            <a:endParaRPr lang="he-IL" sz="1200" spc="-24">
              <a:solidFill>
                <a:srgbClr val="264F73"/>
              </a:solidFill>
              <a:latin typeface="Rubik"/>
              <a:ea typeface="Rubik"/>
              <a:cs typeface="Rubik"/>
              <a:sym typeface="Rubik"/>
              <a:rtl/>
            </a:endParaRPr>
          </a:p>
        </p:txBody>
      </p:sp>
      <p:pic>
        <p:nvPicPr>
          <p:cNvPr id="19" name="תמונה 18">
            <a:extLst>
              <a:ext uri="{FF2B5EF4-FFF2-40B4-BE49-F238E27FC236}">
                <a16:creationId xmlns:a16="http://schemas.microsoft.com/office/drawing/2014/main" id="{451CECF8-A525-92D0-BF7E-BB073EA071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55494" y="2589843"/>
            <a:ext cx="13228130" cy="7381335"/>
          </a:xfrm>
          <a:prstGeom prst="rect">
            <a:avLst/>
          </a:prstGeom>
        </p:spPr>
      </p:pic>
      <p:sp>
        <p:nvSpPr>
          <p:cNvPr id="20" name="תיבת טקסט 19">
            <a:extLst>
              <a:ext uri="{FF2B5EF4-FFF2-40B4-BE49-F238E27FC236}">
                <a16:creationId xmlns:a16="http://schemas.microsoft.com/office/drawing/2014/main" id="{146489B4-F8BC-73A0-54CD-D88199EA5555}"/>
              </a:ext>
            </a:extLst>
          </p:cNvPr>
          <p:cNvSpPr txBox="1"/>
          <p:nvPr/>
        </p:nvSpPr>
        <p:spPr>
          <a:xfrm>
            <a:off x="14142888" y="2114277"/>
            <a:ext cx="3352796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1"/>
            <a:r>
              <a:rPr lang="he-IL" dirty="0">
                <a:solidFill>
                  <a:schemeClr val="tx2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קישור לסיכום העקרונות ב</a:t>
            </a:r>
            <a:r>
              <a:rPr lang="en-US" dirty="0">
                <a:solidFill>
                  <a:schemeClr val="tx2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Genially</a:t>
            </a:r>
            <a:endParaRPr lang="en-US" dirty="0">
              <a:solidFill>
                <a:schemeClr val="tx2"/>
              </a:solidFill>
            </a:endParaRPr>
          </a:p>
          <a:p>
            <a:pPr algn="l" rtl="1"/>
            <a:endParaRPr lang="he-IL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629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0128" b="-10128"/>
            </a:stretch>
          </a:blipFill>
        </p:spPr>
        <p:txBody>
          <a:bodyPr/>
          <a:lstStyle/>
          <a:p>
            <a:endParaRPr lang="he-IL" dirty="0"/>
          </a:p>
        </p:txBody>
      </p:sp>
      <p:sp>
        <p:nvSpPr>
          <p:cNvPr id="3" name="TextBox 3"/>
          <p:cNvSpPr txBox="1"/>
          <p:nvPr/>
        </p:nvSpPr>
        <p:spPr>
          <a:xfrm>
            <a:off x="14078744" y="1114425"/>
            <a:ext cx="3180556" cy="761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5600"/>
              </a:lnSpc>
              <a:spcBef>
                <a:spcPct val="0"/>
              </a:spcBef>
            </a:pPr>
            <a:r>
              <a:rPr lang="he-IL" sz="5600" b="1" spc="-112" dirty="0">
                <a:solidFill>
                  <a:srgbClr val="264F73"/>
                </a:solidFill>
                <a:latin typeface="Rubik Bold"/>
                <a:ea typeface="Rubik Bold"/>
                <a:cs typeface="Rubik Bold"/>
                <a:sym typeface="Rubik Bold"/>
                <a:rtl/>
              </a:rPr>
              <a:t>תוכן לימודי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71306" y="2297360"/>
            <a:ext cx="9486900" cy="6165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2400"/>
              </a:lnSpc>
              <a:spcBef>
                <a:spcPct val="0"/>
              </a:spcBef>
            </a:pPr>
            <a:r>
              <a:rPr lang="he-IL" sz="2400" spc="-48" dirty="0">
                <a:solidFill>
                  <a:srgbClr val="264F73"/>
                </a:solidFill>
                <a:latin typeface="Rubik"/>
                <a:ea typeface="Rubik"/>
                <a:cs typeface="Rubik"/>
                <a:sym typeface="Rubik"/>
                <a:rtl/>
              </a:rPr>
              <a:t>היכנסו לקישור </a:t>
            </a:r>
            <a:r>
              <a:rPr lang="he-IL" sz="2400" spc="-48" dirty="0">
                <a:solidFill>
                  <a:schemeClr val="tx2">
                    <a:lumMod val="75000"/>
                  </a:schemeClr>
                </a:solidFill>
                <a:latin typeface="Rubik"/>
                <a:ea typeface="Rubik"/>
                <a:cs typeface="Rubik"/>
                <a:sym typeface="Rubik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  <a:rtl/>
              </a:rPr>
              <a:t>כאן </a:t>
            </a:r>
            <a:r>
              <a:rPr lang="he-IL" sz="2400" spc="-48" dirty="0">
                <a:solidFill>
                  <a:schemeClr val="tx2">
                    <a:lumMod val="75000"/>
                  </a:schemeClr>
                </a:solidFill>
                <a:latin typeface="Rubik"/>
                <a:ea typeface="Rubik"/>
                <a:cs typeface="Rubik"/>
                <a:sym typeface="Rubik"/>
                <a:rtl/>
              </a:rPr>
              <a:t>כדי לצפות ב</a:t>
            </a:r>
            <a:r>
              <a:rPr lang="he-IL" sz="2400" spc="-48" dirty="0">
                <a:solidFill>
                  <a:srgbClr val="264F73"/>
                </a:solidFill>
                <a:latin typeface="Rubik"/>
                <a:ea typeface="Rubik"/>
                <a:cs typeface="Rubik"/>
                <a:sym typeface="Rubik"/>
                <a:rtl/>
              </a:rPr>
              <a:t>סוגי לומדים לפי </a:t>
            </a:r>
            <a:r>
              <a:rPr lang="he-IL" sz="2400" spc="-48" dirty="0" err="1">
                <a:solidFill>
                  <a:srgbClr val="264F73"/>
                </a:solidFill>
                <a:latin typeface="Rubik"/>
                <a:ea typeface="Rubik"/>
                <a:cs typeface="Rubik"/>
                <a:sym typeface="Rubik"/>
                <a:rtl/>
              </a:rPr>
              <a:t>טקסונומיית</a:t>
            </a:r>
            <a:r>
              <a:rPr lang="he-IL" sz="2400" spc="-48" dirty="0">
                <a:solidFill>
                  <a:srgbClr val="264F73"/>
                </a:solidFill>
                <a:latin typeface="Rubik"/>
                <a:ea typeface="Rubik"/>
                <a:cs typeface="Rubik"/>
                <a:sym typeface="Rubik"/>
                <a:rtl/>
              </a:rPr>
              <a:t> </a:t>
            </a:r>
            <a:r>
              <a:rPr lang="he-IL" sz="2400" spc="-48" dirty="0" err="1">
                <a:solidFill>
                  <a:srgbClr val="264F73"/>
                </a:solidFill>
                <a:latin typeface="Rubik"/>
                <a:ea typeface="Rubik"/>
                <a:cs typeface="Rubik"/>
                <a:sym typeface="Rubik"/>
                <a:rtl/>
              </a:rPr>
              <a:t>ברטל</a:t>
            </a:r>
            <a:r>
              <a:rPr lang="he-IL" sz="2400" spc="-48" dirty="0">
                <a:solidFill>
                  <a:srgbClr val="264F73"/>
                </a:solidFill>
                <a:latin typeface="Rubik"/>
                <a:ea typeface="Rubik"/>
                <a:cs typeface="Rubik"/>
                <a:sym typeface="Rubik"/>
                <a:rtl/>
              </a:rPr>
              <a:t>.</a:t>
            </a:r>
            <a:r>
              <a:rPr lang="he-IL" sz="2400" spc="-48" dirty="0">
                <a:solidFill>
                  <a:schemeClr val="tx2">
                    <a:lumMod val="75000"/>
                  </a:schemeClr>
                </a:solidFill>
                <a:latin typeface="Rubik"/>
                <a:ea typeface="Rubik"/>
                <a:cs typeface="Rubik"/>
                <a:sym typeface="Rubik"/>
                <a:rtl/>
              </a:rPr>
              <a:t> </a:t>
            </a:r>
          </a:p>
          <a:p>
            <a:pPr algn="r" rtl="1">
              <a:lnSpc>
                <a:spcPts val="2400"/>
              </a:lnSpc>
              <a:spcBef>
                <a:spcPct val="0"/>
              </a:spcBef>
            </a:pPr>
            <a:endParaRPr lang="he-IL" sz="2400" spc="-48" dirty="0">
              <a:solidFill>
                <a:srgbClr val="264F73"/>
              </a:solidFill>
              <a:latin typeface="Rubik"/>
              <a:ea typeface="Rubik"/>
              <a:cs typeface="Rubik"/>
              <a:sym typeface="Rubik"/>
              <a:rtl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1582755" y="3135869"/>
            <a:ext cx="5130614" cy="9242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2400"/>
              </a:lnSpc>
            </a:pPr>
            <a:r>
              <a:rPr lang="he-IL" sz="2400" i="1" spc="-48" dirty="0">
                <a:solidFill>
                  <a:srgbClr val="65A0B3"/>
                </a:solidFill>
                <a:latin typeface="Rubik Bold" pitchFamily="2" charset="-79"/>
                <a:ea typeface="Rubik Italics"/>
                <a:cs typeface="Rubik Bold" pitchFamily="2" charset="-79"/>
                <a:sym typeface="Rubik Italics"/>
                <a:rtl/>
              </a:rPr>
              <a:t>מעדיפים קצר ולעניין? </a:t>
            </a:r>
          </a:p>
          <a:p>
            <a:pPr algn="r" rtl="1">
              <a:lnSpc>
                <a:spcPts val="2400"/>
              </a:lnSpc>
              <a:spcBef>
                <a:spcPct val="0"/>
              </a:spcBef>
            </a:pPr>
            <a:r>
              <a:rPr lang="he-IL" sz="2400" i="1" spc="-48" dirty="0">
                <a:solidFill>
                  <a:srgbClr val="65A0B3"/>
                </a:solidFill>
                <a:latin typeface="Rubik Italics"/>
                <a:ea typeface="Rubik Italics"/>
                <a:cs typeface="Rubik Italics"/>
                <a:sym typeface="Rubik Italics"/>
                <a:rtl/>
              </a:rPr>
              <a:t>הכנו לכם גם סיכום ממוקד של הדברים החשובים, המשיכו הלאה!</a:t>
            </a:r>
          </a:p>
        </p:txBody>
      </p:sp>
      <p:sp>
        <p:nvSpPr>
          <p:cNvPr id="6" name="Freeform 6"/>
          <p:cNvSpPr/>
          <p:nvPr/>
        </p:nvSpPr>
        <p:spPr>
          <a:xfrm>
            <a:off x="16211853" y="2714299"/>
            <a:ext cx="1046353" cy="469908"/>
          </a:xfrm>
          <a:custGeom>
            <a:avLst/>
            <a:gdLst/>
            <a:ahLst/>
            <a:cxnLst/>
            <a:rect l="l" t="t" r="r" b="b"/>
            <a:pathLst>
              <a:path w="1046353" h="469908">
                <a:moveTo>
                  <a:pt x="0" y="0"/>
                </a:moveTo>
                <a:lnTo>
                  <a:pt x="1046353" y="0"/>
                </a:lnTo>
                <a:lnTo>
                  <a:pt x="1046353" y="469907"/>
                </a:lnTo>
                <a:lnTo>
                  <a:pt x="0" y="4699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7" name="Freeform 7"/>
          <p:cNvSpPr/>
          <p:nvPr/>
        </p:nvSpPr>
        <p:spPr>
          <a:xfrm>
            <a:off x="15300888" y="274777"/>
            <a:ext cx="382448" cy="382448"/>
          </a:xfrm>
          <a:custGeom>
            <a:avLst/>
            <a:gdLst/>
            <a:ahLst/>
            <a:cxnLst/>
            <a:rect l="l" t="t" r="r" b="b"/>
            <a:pathLst>
              <a:path w="382448" h="382448">
                <a:moveTo>
                  <a:pt x="0" y="0"/>
                </a:moveTo>
                <a:lnTo>
                  <a:pt x="382448" y="0"/>
                </a:lnTo>
                <a:lnTo>
                  <a:pt x="382448" y="382448"/>
                </a:lnTo>
                <a:lnTo>
                  <a:pt x="0" y="3824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8" name="Freeform 8"/>
          <p:cNvSpPr/>
          <p:nvPr/>
        </p:nvSpPr>
        <p:spPr>
          <a:xfrm>
            <a:off x="13851323" y="274777"/>
            <a:ext cx="382448" cy="382448"/>
          </a:xfrm>
          <a:custGeom>
            <a:avLst/>
            <a:gdLst/>
            <a:ahLst/>
            <a:cxnLst/>
            <a:rect l="l" t="t" r="r" b="b"/>
            <a:pathLst>
              <a:path w="382448" h="382448">
                <a:moveTo>
                  <a:pt x="0" y="0"/>
                </a:moveTo>
                <a:lnTo>
                  <a:pt x="382448" y="0"/>
                </a:lnTo>
                <a:lnTo>
                  <a:pt x="382448" y="382448"/>
                </a:lnTo>
                <a:lnTo>
                  <a:pt x="0" y="3824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9" name="Freeform 9"/>
          <p:cNvSpPr/>
          <p:nvPr/>
        </p:nvSpPr>
        <p:spPr>
          <a:xfrm>
            <a:off x="16876852" y="274777"/>
            <a:ext cx="382448" cy="382448"/>
          </a:xfrm>
          <a:custGeom>
            <a:avLst/>
            <a:gdLst/>
            <a:ahLst/>
            <a:cxnLst/>
            <a:rect l="l" t="t" r="r" b="b"/>
            <a:pathLst>
              <a:path w="382448" h="382448">
                <a:moveTo>
                  <a:pt x="0" y="0"/>
                </a:moveTo>
                <a:lnTo>
                  <a:pt x="382448" y="0"/>
                </a:lnTo>
                <a:lnTo>
                  <a:pt x="382448" y="382448"/>
                </a:lnTo>
                <a:lnTo>
                  <a:pt x="0" y="3824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0" name="AutoShape 10"/>
          <p:cNvSpPr/>
          <p:nvPr/>
        </p:nvSpPr>
        <p:spPr>
          <a:xfrm flipH="1" flipV="1">
            <a:off x="15683336" y="466001"/>
            <a:ext cx="1193516" cy="0"/>
          </a:xfrm>
          <a:prstGeom prst="line">
            <a:avLst/>
          </a:prstGeom>
          <a:ln w="47625" cap="rnd">
            <a:solidFill>
              <a:srgbClr val="F2C762">
                <a:alpha val="80000"/>
              </a:srgbClr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he-IL"/>
          </a:p>
        </p:txBody>
      </p:sp>
      <p:sp>
        <p:nvSpPr>
          <p:cNvPr id="11" name="AutoShape 11"/>
          <p:cNvSpPr/>
          <p:nvPr/>
        </p:nvSpPr>
        <p:spPr>
          <a:xfrm flipH="1">
            <a:off x="14233771" y="466001"/>
            <a:ext cx="1067117" cy="0"/>
          </a:xfrm>
          <a:prstGeom prst="line">
            <a:avLst/>
          </a:prstGeom>
          <a:ln w="47625" cap="rnd">
            <a:solidFill>
              <a:srgbClr val="F2C762">
                <a:alpha val="80000"/>
              </a:srgbClr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he-IL"/>
          </a:p>
        </p:txBody>
      </p:sp>
      <p:sp>
        <p:nvSpPr>
          <p:cNvPr id="12" name="AutoShape 12"/>
          <p:cNvSpPr/>
          <p:nvPr/>
        </p:nvSpPr>
        <p:spPr>
          <a:xfrm flipH="1">
            <a:off x="12784206" y="466001"/>
            <a:ext cx="1067117" cy="0"/>
          </a:xfrm>
          <a:prstGeom prst="line">
            <a:avLst/>
          </a:prstGeom>
          <a:ln w="47625" cap="rnd">
            <a:solidFill>
              <a:srgbClr val="F2C762">
                <a:alpha val="80000"/>
              </a:srgbClr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he-IL"/>
          </a:p>
        </p:txBody>
      </p:sp>
      <p:sp>
        <p:nvSpPr>
          <p:cNvPr id="13" name="Freeform 13"/>
          <p:cNvSpPr/>
          <p:nvPr/>
        </p:nvSpPr>
        <p:spPr>
          <a:xfrm>
            <a:off x="12401758" y="274777"/>
            <a:ext cx="382448" cy="382448"/>
          </a:xfrm>
          <a:custGeom>
            <a:avLst/>
            <a:gdLst/>
            <a:ahLst/>
            <a:cxnLst/>
            <a:rect l="l" t="t" r="r" b="b"/>
            <a:pathLst>
              <a:path w="382448" h="382448">
                <a:moveTo>
                  <a:pt x="0" y="0"/>
                </a:moveTo>
                <a:lnTo>
                  <a:pt x="382448" y="0"/>
                </a:lnTo>
                <a:lnTo>
                  <a:pt x="382448" y="382448"/>
                </a:lnTo>
                <a:lnTo>
                  <a:pt x="0" y="3824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4" name="AutoShape 14"/>
          <p:cNvSpPr/>
          <p:nvPr/>
        </p:nvSpPr>
        <p:spPr>
          <a:xfrm>
            <a:off x="17068076" y="657225"/>
            <a:ext cx="0" cy="601914"/>
          </a:xfrm>
          <a:prstGeom prst="line">
            <a:avLst/>
          </a:prstGeom>
          <a:ln w="47625" cap="rnd">
            <a:solidFill>
              <a:srgbClr val="F2C762">
                <a:alpha val="80000"/>
              </a:srgbClr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he-IL"/>
          </a:p>
        </p:txBody>
      </p:sp>
      <p:sp>
        <p:nvSpPr>
          <p:cNvPr id="15" name="TextBox 15"/>
          <p:cNvSpPr txBox="1"/>
          <p:nvPr/>
        </p:nvSpPr>
        <p:spPr>
          <a:xfrm>
            <a:off x="15164938" y="712470"/>
            <a:ext cx="654348" cy="163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1200"/>
              </a:lnSpc>
              <a:spcBef>
                <a:spcPct val="0"/>
              </a:spcBef>
            </a:pPr>
            <a:r>
              <a:rPr lang="he-IL" sz="1200" spc="-24">
                <a:solidFill>
                  <a:srgbClr val="264F73"/>
                </a:solidFill>
                <a:latin typeface="Rubik"/>
                <a:ea typeface="Rubik"/>
                <a:cs typeface="Rubik"/>
                <a:sym typeface="Rubik"/>
                <a:rtl/>
              </a:rPr>
              <a:t>עזרי עבודה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746181" y="712470"/>
            <a:ext cx="592733" cy="163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1200"/>
              </a:lnSpc>
              <a:spcBef>
                <a:spcPct val="0"/>
              </a:spcBef>
            </a:pPr>
            <a:r>
              <a:rPr lang="he-IL" sz="1200" spc="-24">
                <a:solidFill>
                  <a:srgbClr val="264F73"/>
                </a:solidFill>
                <a:latin typeface="Rubik"/>
                <a:ea typeface="Rubik"/>
                <a:cs typeface="Rubik"/>
                <a:sym typeface="Rubik"/>
                <a:rtl/>
              </a:rPr>
              <a:t>ארגז כלים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345679" y="712470"/>
            <a:ext cx="494605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1200"/>
              </a:lnSpc>
            </a:pPr>
            <a:r>
              <a:rPr lang="he-IL" sz="1200" spc="-24">
                <a:solidFill>
                  <a:srgbClr val="264F73"/>
                </a:solidFill>
                <a:latin typeface="Rubik"/>
                <a:ea typeface="Rubik"/>
                <a:cs typeface="Rubik"/>
                <a:sym typeface="Rubik"/>
                <a:rtl/>
              </a:rPr>
              <a:t>השראות</a:t>
            </a:r>
          </a:p>
          <a:p>
            <a:pPr algn="r" rtl="1">
              <a:lnSpc>
                <a:spcPts val="1200"/>
              </a:lnSpc>
              <a:spcBef>
                <a:spcPct val="0"/>
              </a:spcBef>
            </a:pPr>
            <a:endParaRPr lang="he-IL" sz="1200" spc="-24">
              <a:solidFill>
                <a:srgbClr val="264F73"/>
              </a:solidFill>
              <a:latin typeface="Rubik"/>
              <a:ea typeface="Rubik"/>
              <a:cs typeface="Rubik"/>
              <a:sym typeface="Rubik"/>
              <a:rtl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0128" b="-10128"/>
            </a:stretch>
          </a:blipFill>
        </p:spPr>
        <p:txBody>
          <a:bodyPr/>
          <a:lstStyle/>
          <a:p>
            <a:endParaRPr lang="he-IL"/>
          </a:p>
        </p:txBody>
      </p:sp>
      <p:grpSp>
        <p:nvGrpSpPr>
          <p:cNvPr id="3" name="Group 3"/>
          <p:cNvGrpSpPr/>
          <p:nvPr/>
        </p:nvGrpSpPr>
        <p:grpSpPr>
          <a:xfrm>
            <a:off x="878617" y="405857"/>
            <a:ext cx="7392530" cy="4019177"/>
            <a:chOff x="0" y="0"/>
            <a:chExt cx="9856706" cy="5358903"/>
          </a:xfrm>
        </p:grpSpPr>
        <p:grpSp>
          <p:nvGrpSpPr>
            <p:cNvPr id="4" name="Group 4"/>
            <p:cNvGrpSpPr/>
            <p:nvPr/>
          </p:nvGrpSpPr>
          <p:grpSpPr>
            <a:xfrm>
              <a:off x="448849" y="1665576"/>
              <a:ext cx="8055633" cy="1875895"/>
              <a:chOff x="0" y="0"/>
              <a:chExt cx="2864225" cy="666985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2864225" cy="666985"/>
              </a:xfrm>
              <a:custGeom>
                <a:avLst/>
                <a:gdLst/>
                <a:ahLst/>
                <a:cxnLst/>
                <a:rect l="l" t="t" r="r" b="b"/>
                <a:pathLst>
                  <a:path w="2864225" h="666985">
                    <a:moveTo>
                      <a:pt x="0" y="0"/>
                    </a:moveTo>
                    <a:lnTo>
                      <a:pt x="2864225" y="0"/>
                    </a:lnTo>
                    <a:lnTo>
                      <a:pt x="2864225" y="666985"/>
                    </a:lnTo>
                    <a:lnTo>
                      <a:pt x="0" y="66698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28575"/>
                <a:ext cx="2864225" cy="695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183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0" y="775518"/>
              <a:ext cx="7393588" cy="8900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 rtl="1">
                <a:lnSpc>
                  <a:spcPts val="5599"/>
                </a:lnSpc>
                <a:spcBef>
                  <a:spcPct val="0"/>
                </a:spcBef>
              </a:pPr>
              <a:r>
                <a:rPr lang="he-IL" sz="3999" b="1">
                  <a:solidFill>
                    <a:srgbClr val="264F73"/>
                  </a:solidFill>
                  <a:latin typeface="Rubik Bold"/>
                  <a:ea typeface="Rubik Bold"/>
                  <a:cs typeface="Rubik Bold"/>
                  <a:sym typeface="Rubik Bold"/>
                  <a:rtl/>
                </a:rPr>
                <a:t>תחרותי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8067398" y="3987907"/>
              <a:ext cx="874169" cy="822357"/>
            </a:xfrm>
            <a:custGeom>
              <a:avLst/>
              <a:gdLst/>
              <a:ahLst/>
              <a:cxnLst/>
              <a:rect l="l" t="t" r="r" b="b"/>
              <a:pathLst>
                <a:path w="874169" h="822357">
                  <a:moveTo>
                    <a:pt x="0" y="0"/>
                  </a:moveTo>
                  <a:lnTo>
                    <a:pt x="874169" y="0"/>
                  </a:lnTo>
                  <a:lnTo>
                    <a:pt x="874169" y="822356"/>
                  </a:lnTo>
                  <a:lnTo>
                    <a:pt x="0" y="8223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905" t="-39430" r="-206716" b="-66016"/>
              </a:stretch>
            </a:blipFill>
          </p:spPr>
          <p:txBody>
            <a:bodyPr/>
            <a:lstStyle/>
            <a:p>
              <a:endParaRPr lang="he-IL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90510" y="2050074"/>
              <a:ext cx="7276887" cy="12719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 rtl="1">
                <a:lnSpc>
                  <a:spcPts val="2400"/>
                </a:lnSpc>
                <a:spcBef>
                  <a:spcPct val="0"/>
                </a:spcBef>
              </a:pPr>
              <a:r>
                <a:rPr lang="he-IL" sz="2400" spc="-48">
                  <a:solidFill>
                    <a:srgbClr val="264F73"/>
                  </a:solidFill>
                  <a:latin typeface="Rubik"/>
                  <a:ea typeface="Rubik"/>
                  <a:cs typeface="Rubik"/>
                  <a:sym typeface="Rubik"/>
                  <a:rtl/>
                </a:rPr>
                <a:t>האתגר: </a:t>
              </a:r>
              <a:r>
                <a:rPr lang="he-IL" sz="2400" b="1" spc="-48">
                  <a:solidFill>
                    <a:srgbClr val="264F73"/>
                  </a:solidFill>
                  <a:latin typeface="Rubik Bold"/>
                  <a:ea typeface="Rubik Bold"/>
                  <a:cs typeface="Rubik Bold"/>
                  <a:sym typeface="Rubik Bold"/>
                  <a:rtl/>
                </a:rPr>
                <a:t>צורך ביריב, </a:t>
              </a:r>
              <a:r>
                <a:rPr lang="he-IL" sz="2400" spc="-48">
                  <a:solidFill>
                    <a:srgbClr val="264F73"/>
                  </a:solidFill>
                  <a:latin typeface="Rubik"/>
                  <a:ea typeface="Rubik"/>
                  <a:cs typeface="Rubik"/>
                  <a:sym typeface="Rubik"/>
                  <a:rtl/>
                </a:rPr>
                <a:t>הלומד מונע מניצחון על אחרים, ועלול לאבד עניין אם אין לו במי להילחם בשיעור פרטי.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4028" y="4086998"/>
              <a:ext cx="7863003" cy="12719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 rtl="1">
                <a:lnSpc>
                  <a:spcPts val="2400"/>
                </a:lnSpc>
                <a:spcBef>
                  <a:spcPct val="0"/>
                </a:spcBef>
              </a:pPr>
              <a:r>
                <a:rPr lang="he-IL" sz="2400" b="1" spc="-48">
                  <a:solidFill>
                    <a:srgbClr val="264F73"/>
                  </a:solidFill>
                  <a:latin typeface="Rubik Bold"/>
                  <a:ea typeface="Rubik Bold"/>
                  <a:cs typeface="Rubik Bold"/>
                  <a:sym typeface="Rubik Bold"/>
                  <a:rtl/>
                </a:rPr>
                <a:t>התחרו מולו!</a:t>
              </a:r>
              <a:r>
                <a:rPr lang="he-IL" sz="2400" spc="-48">
                  <a:solidFill>
                    <a:srgbClr val="264F73"/>
                  </a:solidFill>
                  <a:latin typeface="Rubik"/>
                  <a:ea typeface="Rubik"/>
                  <a:cs typeface="Rubik"/>
                  <a:sym typeface="Rubik"/>
                  <a:rtl/>
                </a:rPr>
                <a:t> הפכו ליריב שלו במשחק. קבעו חוק שבו פתרון נכון של המשימה הלימודית הוא הדרך היחידה שלו לנצח אותך בתור.</a:t>
              </a:r>
            </a:p>
          </p:txBody>
        </p:sp>
        <p:sp>
          <p:nvSpPr>
            <p:cNvPr id="11" name="Freeform 11"/>
            <p:cNvSpPr/>
            <p:nvPr/>
          </p:nvSpPr>
          <p:spPr>
            <a:xfrm rot="115383">
              <a:off x="7191854" y="43372"/>
              <a:ext cx="2625255" cy="2403969"/>
            </a:xfrm>
            <a:custGeom>
              <a:avLst/>
              <a:gdLst/>
              <a:ahLst/>
              <a:cxnLst/>
              <a:rect l="l" t="t" r="r" b="b"/>
              <a:pathLst>
                <a:path w="2625255" h="2403969">
                  <a:moveTo>
                    <a:pt x="0" y="0"/>
                  </a:moveTo>
                  <a:lnTo>
                    <a:pt x="2625256" y="0"/>
                  </a:lnTo>
                  <a:lnTo>
                    <a:pt x="2625256" y="2403969"/>
                  </a:lnTo>
                  <a:lnTo>
                    <a:pt x="0" y="24039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he-IL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78617" y="4880206"/>
            <a:ext cx="7242446" cy="4717270"/>
            <a:chOff x="0" y="0"/>
            <a:chExt cx="9656595" cy="6289693"/>
          </a:xfrm>
        </p:grpSpPr>
        <p:grpSp>
          <p:nvGrpSpPr>
            <p:cNvPr id="13" name="Group 13"/>
            <p:cNvGrpSpPr/>
            <p:nvPr/>
          </p:nvGrpSpPr>
          <p:grpSpPr>
            <a:xfrm>
              <a:off x="448849" y="2117690"/>
              <a:ext cx="8055633" cy="2223824"/>
              <a:chOff x="0" y="0"/>
              <a:chExt cx="2864225" cy="79069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2864225" cy="790693"/>
              </a:xfrm>
              <a:custGeom>
                <a:avLst/>
                <a:gdLst/>
                <a:ahLst/>
                <a:cxnLst/>
                <a:rect l="l" t="t" r="r" b="b"/>
                <a:pathLst>
                  <a:path w="2864225" h="790693">
                    <a:moveTo>
                      <a:pt x="0" y="0"/>
                    </a:moveTo>
                    <a:lnTo>
                      <a:pt x="2864225" y="0"/>
                    </a:lnTo>
                    <a:lnTo>
                      <a:pt x="2864225" y="790693"/>
                    </a:lnTo>
                    <a:lnTo>
                      <a:pt x="0" y="79069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28575"/>
                <a:ext cx="2864225" cy="81926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183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0" y="1227631"/>
              <a:ext cx="7393588" cy="8900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 rtl="1">
                <a:lnSpc>
                  <a:spcPts val="5599"/>
                </a:lnSpc>
                <a:spcBef>
                  <a:spcPct val="0"/>
                </a:spcBef>
              </a:pPr>
              <a:r>
                <a:rPr lang="he-IL" sz="3999" b="1">
                  <a:solidFill>
                    <a:srgbClr val="264F73"/>
                  </a:solidFill>
                  <a:latin typeface="Rubik Bold"/>
                  <a:ea typeface="Rubik Bold"/>
                  <a:cs typeface="Rubik Bold"/>
                  <a:sym typeface="Rubik Bold"/>
                  <a:rtl/>
                </a:rPr>
                <a:t>חברתית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8067398" y="4493058"/>
              <a:ext cx="874169" cy="822357"/>
            </a:xfrm>
            <a:custGeom>
              <a:avLst/>
              <a:gdLst/>
              <a:ahLst/>
              <a:cxnLst/>
              <a:rect l="l" t="t" r="r" b="b"/>
              <a:pathLst>
                <a:path w="874169" h="822357">
                  <a:moveTo>
                    <a:pt x="0" y="0"/>
                  </a:moveTo>
                  <a:lnTo>
                    <a:pt x="874169" y="0"/>
                  </a:lnTo>
                  <a:lnTo>
                    <a:pt x="874169" y="822357"/>
                  </a:lnTo>
                  <a:lnTo>
                    <a:pt x="0" y="8223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905" t="-39430" r="-206716" b="-66016"/>
              </a:stretch>
            </a:blipFill>
          </p:spPr>
          <p:txBody>
            <a:bodyPr/>
            <a:lstStyle/>
            <a:p>
              <a:endParaRPr lang="he-IL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8617" y="2502188"/>
              <a:ext cx="7418780" cy="20847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 rtl="1">
                <a:lnSpc>
                  <a:spcPts val="2400"/>
                </a:lnSpc>
                <a:spcBef>
                  <a:spcPct val="0"/>
                </a:spcBef>
              </a:pPr>
              <a:r>
                <a:rPr lang="he-IL" sz="2400" spc="-48">
                  <a:solidFill>
                    <a:srgbClr val="264F73"/>
                  </a:solidFill>
                  <a:latin typeface="Rubik"/>
                  <a:ea typeface="Rubik"/>
                  <a:cs typeface="Rubik"/>
                  <a:sym typeface="Rubik"/>
                  <a:rtl/>
                </a:rPr>
                <a:t>האתגר: </a:t>
              </a:r>
              <a:r>
                <a:rPr lang="he-IL" sz="2400" b="1" spc="-48">
                  <a:solidFill>
                    <a:srgbClr val="264F73"/>
                  </a:solidFill>
                  <a:latin typeface="Rubik Bold"/>
                  <a:ea typeface="Rubik Bold"/>
                  <a:cs typeface="Rubik Bold"/>
                  <a:sym typeface="Rubik Bold"/>
                  <a:rtl/>
                </a:rPr>
                <a:t>חוסר עניין במשחק יחידני. </a:t>
              </a:r>
              <a:r>
                <a:rPr lang="he-IL" sz="2400" spc="-48">
                  <a:solidFill>
                    <a:srgbClr val="264F73"/>
                  </a:solidFill>
                  <a:latin typeface="Rubik"/>
                  <a:ea typeface="Rubik"/>
                  <a:cs typeface="Rubik"/>
                  <a:sym typeface="Rubik"/>
                  <a:rtl/>
                </a:rPr>
                <a:t>היא משתעממת לבד ועלולה להסיט את השיעור לשיחות חולין כדי לייצר איתך אינטראקציה אנושית.</a:t>
              </a:r>
            </a:p>
            <a:p>
              <a:pPr algn="r" rtl="1">
                <a:lnSpc>
                  <a:spcPts val="2400"/>
                </a:lnSpc>
                <a:spcBef>
                  <a:spcPct val="0"/>
                </a:spcBef>
              </a:pPr>
              <a:endParaRPr lang="he-IL" sz="2400" spc="-48">
                <a:solidFill>
                  <a:srgbClr val="264F73"/>
                </a:solidFill>
                <a:latin typeface="Rubik"/>
                <a:ea typeface="Rubik"/>
                <a:cs typeface="Rubik"/>
                <a:sym typeface="Rubik"/>
                <a:rtl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4028" y="4611388"/>
              <a:ext cx="7863003" cy="16783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 rtl="1">
                <a:lnSpc>
                  <a:spcPts val="2400"/>
                </a:lnSpc>
                <a:spcBef>
                  <a:spcPct val="0"/>
                </a:spcBef>
              </a:pPr>
              <a:r>
                <a:rPr lang="he-IL" sz="2400" b="1" spc="-48">
                  <a:solidFill>
                    <a:srgbClr val="264F73"/>
                  </a:solidFill>
                  <a:latin typeface="Rubik Bold"/>
                  <a:ea typeface="Rubik Bold"/>
                  <a:cs typeface="Rubik Bold"/>
                  <a:sym typeface="Rubik Bold"/>
                  <a:rtl/>
                </a:rPr>
                <a:t>היו שותף למשחק, </a:t>
              </a:r>
              <a:r>
                <a:rPr lang="he-IL" sz="2400" spc="-48">
                  <a:solidFill>
                    <a:srgbClr val="264F73"/>
                  </a:solidFill>
                  <a:latin typeface="Rubik"/>
                  <a:ea typeface="Rubik"/>
                  <a:cs typeface="Rubik"/>
                  <a:sym typeface="Rubik"/>
                  <a:rtl/>
                </a:rPr>
                <a:t>שחקו יחד במשחקים לשניים, התייעצו איתה על מהלכים משותפים והעבירו אליה את השליטה בהדרגה.</a:t>
              </a:r>
            </a:p>
            <a:p>
              <a:pPr algn="r" rtl="1">
                <a:lnSpc>
                  <a:spcPts val="2400"/>
                </a:lnSpc>
                <a:spcBef>
                  <a:spcPct val="0"/>
                </a:spcBef>
              </a:pPr>
              <a:endParaRPr lang="he-IL" sz="2400" spc="-48">
                <a:solidFill>
                  <a:srgbClr val="264F73"/>
                </a:solidFill>
                <a:latin typeface="Rubik"/>
                <a:ea typeface="Rubik"/>
                <a:cs typeface="Rubik"/>
                <a:sym typeface="Rubik"/>
                <a:rtl/>
              </a:endParaRPr>
            </a:p>
          </p:txBody>
        </p:sp>
        <p:sp>
          <p:nvSpPr>
            <p:cNvPr id="20" name="Freeform 20"/>
            <p:cNvSpPr/>
            <p:nvPr/>
          </p:nvSpPr>
          <p:spPr>
            <a:xfrm>
              <a:off x="6929018" y="0"/>
              <a:ext cx="2727577" cy="2790101"/>
            </a:xfrm>
            <a:custGeom>
              <a:avLst/>
              <a:gdLst/>
              <a:ahLst/>
              <a:cxnLst/>
              <a:rect l="l" t="t" r="r" b="b"/>
              <a:pathLst>
                <a:path w="2727577" h="2790101">
                  <a:moveTo>
                    <a:pt x="0" y="0"/>
                  </a:moveTo>
                  <a:lnTo>
                    <a:pt x="2727577" y="0"/>
                  </a:lnTo>
                  <a:lnTo>
                    <a:pt x="2727577" y="2790101"/>
                  </a:lnTo>
                  <a:lnTo>
                    <a:pt x="0" y="2790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7730" r="-35804"/>
              </a:stretch>
            </a:blipFill>
          </p:spPr>
          <p:txBody>
            <a:bodyPr/>
            <a:lstStyle/>
            <a:p>
              <a:endParaRPr lang="he-IL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008705" y="4947731"/>
            <a:ext cx="7444259" cy="4649745"/>
            <a:chOff x="0" y="0"/>
            <a:chExt cx="9925679" cy="6199660"/>
          </a:xfrm>
        </p:grpSpPr>
        <p:grpSp>
          <p:nvGrpSpPr>
            <p:cNvPr id="22" name="Group 22"/>
            <p:cNvGrpSpPr/>
            <p:nvPr/>
          </p:nvGrpSpPr>
          <p:grpSpPr>
            <a:xfrm>
              <a:off x="588549" y="2027657"/>
              <a:ext cx="8055633" cy="2223824"/>
              <a:chOff x="0" y="0"/>
              <a:chExt cx="2864225" cy="790693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2864225" cy="790693"/>
              </a:xfrm>
              <a:custGeom>
                <a:avLst/>
                <a:gdLst/>
                <a:ahLst/>
                <a:cxnLst/>
                <a:rect l="l" t="t" r="r" b="b"/>
                <a:pathLst>
                  <a:path w="2864225" h="790693">
                    <a:moveTo>
                      <a:pt x="0" y="0"/>
                    </a:moveTo>
                    <a:lnTo>
                      <a:pt x="2864225" y="0"/>
                    </a:lnTo>
                    <a:lnTo>
                      <a:pt x="2864225" y="790693"/>
                    </a:lnTo>
                    <a:lnTo>
                      <a:pt x="0" y="79069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28575"/>
                <a:ext cx="2864225" cy="81926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183"/>
                  </a:lnSpc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0" y="1137598"/>
              <a:ext cx="7393588" cy="8900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 rtl="1">
                <a:lnSpc>
                  <a:spcPts val="5599"/>
                </a:lnSpc>
                <a:spcBef>
                  <a:spcPct val="0"/>
                </a:spcBef>
              </a:pPr>
              <a:r>
                <a:rPr lang="he-IL" sz="3999" b="1">
                  <a:solidFill>
                    <a:srgbClr val="264F73"/>
                  </a:solidFill>
                  <a:latin typeface="Rubik Bold"/>
                  <a:ea typeface="Rubik Bold"/>
                  <a:cs typeface="Rubik Bold"/>
                  <a:sym typeface="Rubik Bold"/>
                  <a:rtl/>
                </a:rPr>
                <a:t>חוקר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8207098" y="4403025"/>
              <a:ext cx="874169" cy="822357"/>
            </a:xfrm>
            <a:custGeom>
              <a:avLst/>
              <a:gdLst/>
              <a:ahLst/>
              <a:cxnLst/>
              <a:rect l="l" t="t" r="r" b="b"/>
              <a:pathLst>
                <a:path w="874169" h="822357">
                  <a:moveTo>
                    <a:pt x="0" y="0"/>
                  </a:moveTo>
                  <a:lnTo>
                    <a:pt x="874169" y="0"/>
                  </a:lnTo>
                  <a:lnTo>
                    <a:pt x="874169" y="822357"/>
                  </a:lnTo>
                  <a:lnTo>
                    <a:pt x="0" y="8223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905" t="-39430" r="-206716" b="-66016"/>
              </a:stretch>
            </a:blipFill>
          </p:spPr>
          <p:txBody>
            <a:bodyPr/>
            <a:lstStyle/>
            <a:p>
              <a:endParaRPr lang="he-IL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88317" y="2412155"/>
              <a:ext cx="7418780" cy="20847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 rtl="1">
                <a:lnSpc>
                  <a:spcPts val="2400"/>
                </a:lnSpc>
                <a:spcBef>
                  <a:spcPct val="0"/>
                </a:spcBef>
              </a:pPr>
              <a:r>
                <a:rPr lang="he-IL" sz="2400" spc="-48">
                  <a:solidFill>
                    <a:srgbClr val="264F73"/>
                  </a:solidFill>
                  <a:latin typeface="Rubik"/>
                  <a:ea typeface="Rubik"/>
                  <a:cs typeface="Rubik"/>
                  <a:sym typeface="Rubik"/>
                  <a:rtl/>
                </a:rPr>
                <a:t>האתגר: </a:t>
              </a:r>
              <a:r>
                <a:rPr lang="he-IL" sz="2400" b="1" spc="-48">
                  <a:solidFill>
                    <a:srgbClr val="264F73"/>
                  </a:solidFill>
                  <a:latin typeface="Rubik Bold"/>
                  <a:ea typeface="Rubik Bold"/>
                  <a:cs typeface="Rubik Bold"/>
                  <a:sym typeface="Rubik Bold"/>
                  <a:rtl/>
                </a:rPr>
                <a:t>הסחת דעת, </a:t>
              </a:r>
              <a:r>
                <a:rPr lang="he-IL" sz="2400" spc="-48">
                  <a:solidFill>
                    <a:srgbClr val="264F73"/>
                  </a:solidFill>
                  <a:latin typeface="Rubik"/>
                  <a:ea typeface="Rubik"/>
                  <a:cs typeface="Rubik"/>
                  <a:sym typeface="Rubik"/>
                  <a:rtl/>
                </a:rPr>
                <a:t>הלומד עלול להסתקרן כל כך מהסביבה, החפצים והדמויות, עד שישכח לגמרי את המטרה הלימודית שלשמה התכנסתם.</a:t>
              </a:r>
            </a:p>
            <a:p>
              <a:pPr algn="r" rtl="1">
                <a:lnSpc>
                  <a:spcPts val="2400"/>
                </a:lnSpc>
                <a:spcBef>
                  <a:spcPct val="0"/>
                </a:spcBef>
              </a:pPr>
              <a:endParaRPr lang="he-IL" sz="2400" spc="-48">
                <a:solidFill>
                  <a:srgbClr val="264F73"/>
                </a:solidFill>
                <a:latin typeface="Rubik"/>
                <a:ea typeface="Rubik"/>
                <a:cs typeface="Rubik"/>
                <a:sym typeface="Rubik"/>
                <a:rtl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53728" y="4521355"/>
              <a:ext cx="7863003" cy="16783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 rtl="1">
                <a:lnSpc>
                  <a:spcPts val="2400"/>
                </a:lnSpc>
                <a:spcBef>
                  <a:spcPct val="0"/>
                </a:spcBef>
              </a:pPr>
              <a:r>
                <a:rPr lang="he-IL" sz="2400" b="1" spc="-48">
                  <a:solidFill>
                    <a:srgbClr val="264F73"/>
                  </a:solidFill>
                  <a:latin typeface="Rubik Bold"/>
                  <a:ea typeface="Rubik Bold"/>
                  <a:cs typeface="Rubik Bold"/>
                  <a:sym typeface="Rubik Bold"/>
                  <a:rtl/>
                </a:rPr>
                <a:t>תפקדו כמנחה שומר פוקוס </a:t>
              </a:r>
              <a:r>
                <a:rPr lang="he-IL" sz="2400" spc="-48">
                  <a:solidFill>
                    <a:srgbClr val="264F73"/>
                  </a:solidFill>
                  <a:latin typeface="Rubik"/>
                  <a:ea typeface="Rubik"/>
                  <a:cs typeface="Rubik"/>
                  <a:sym typeface="Rubik"/>
                  <a:rtl/>
                </a:rPr>
                <a:t>– תנו לו משימות ברורות, חזרו על ההנחיות ועצרו אותו כשהוא מתחיל להתפזר בתוך המשחק.</a:t>
              </a:r>
            </a:p>
            <a:p>
              <a:pPr algn="r" rtl="1">
                <a:lnSpc>
                  <a:spcPts val="2400"/>
                </a:lnSpc>
                <a:spcBef>
                  <a:spcPct val="0"/>
                </a:spcBef>
              </a:pPr>
              <a:endParaRPr lang="he-IL" sz="2400" spc="-48">
                <a:solidFill>
                  <a:srgbClr val="264F73"/>
                </a:solidFill>
                <a:latin typeface="Rubik"/>
                <a:ea typeface="Rubik"/>
                <a:cs typeface="Rubik"/>
                <a:sym typeface="Rubik"/>
                <a:rtl/>
              </a:endParaRPr>
            </a:p>
          </p:txBody>
        </p:sp>
        <p:sp>
          <p:nvSpPr>
            <p:cNvPr id="29" name="Freeform 29"/>
            <p:cNvSpPr/>
            <p:nvPr/>
          </p:nvSpPr>
          <p:spPr>
            <a:xfrm>
              <a:off x="7032163" y="0"/>
              <a:ext cx="2893516" cy="2893516"/>
            </a:xfrm>
            <a:custGeom>
              <a:avLst/>
              <a:gdLst/>
              <a:ahLst/>
              <a:cxnLst/>
              <a:rect l="l" t="t" r="r" b="b"/>
              <a:pathLst>
                <a:path w="2893516" h="2893516">
                  <a:moveTo>
                    <a:pt x="0" y="0"/>
                  </a:moveTo>
                  <a:lnTo>
                    <a:pt x="2893516" y="0"/>
                  </a:lnTo>
                  <a:lnTo>
                    <a:pt x="2893516" y="2893516"/>
                  </a:lnTo>
                  <a:lnTo>
                    <a:pt x="0" y="28935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he-IL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008705" y="405857"/>
            <a:ext cx="7532922" cy="4162065"/>
            <a:chOff x="0" y="0"/>
            <a:chExt cx="10043896" cy="5549420"/>
          </a:xfrm>
        </p:grpSpPr>
        <p:grpSp>
          <p:nvGrpSpPr>
            <p:cNvPr id="31" name="Group 31"/>
            <p:cNvGrpSpPr/>
            <p:nvPr/>
          </p:nvGrpSpPr>
          <p:grpSpPr>
            <a:xfrm>
              <a:off x="588549" y="1783817"/>
              <a:ext cx="8055633" cy="2223824"/>
              <a:chOff x="0" y="0"/>
              <a:chExt cx="2864225" cy="790693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2864225" cy="790693"/>
              </a:xfrm>
              <a:custGeom>
                <a:avLst/>
                <a:gdLst/>
                <a:ahLst/>
                <a:cxnLst/>
                <a:rect l="l" t="t" r="r" b="b"/>
                <a:pathLst>
                  <a:path w="2864225" h="790693">
                    <a:moveTo>
                      <a:pt x="0" y="0"/>
                    </a:moveTo>
                    <a:lnTo>
                      <a:pt x="2864225" y="0"/>
                    </a:lnTo>
                    <a:lnTo>
                      <a:pt x="2864225" y="790693"/>
                    </a:lnTo>
                    <a:lnTo>
                      <a:pt x="0" y="79069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0" y="-28575"/>
                <a:ext cx="2864225" cy="81926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183"/>
                  </a:lnSpc>
                </a:pPr>
                <a:endParaRPr/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0" y="893758"/>
              <a:ext cx="7393588" cy="8900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 rtl="1">
                <a:lnSpc>
                  <a:spcPts val="5599"/>
                </a:lnSpc>
                <a:spcBef>
                  <a:spcPct val="0"/>
                </a:spcBef>
              </a:pPr>
              <a:r>
                <a:rPr lang="he-IL" sz="3999" b="1">
                  <a:solidFill>
                    <a:srgbClr val="264F73"/>
                  </a:solidFill>
                  <a:latin typeface="Rubik Bold"/>
                  <a:ea typeface="Rubik Bold"/>
                  <a:cs typeface="Rubik Bold"/>
                  <a:sym typeface="Rubik Bold"/>
                  <a:rtl/>
                </a:rPr>
                <a:t>חוקר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8207098" y="4159185"/>
              <a:ext cx="874169" cy="822357"/>
            </a:xfrm>
            <a:custGeom>
              <a:avLst/>
              <a:gdLst/>
              <a:ahLst/>
              <a:cxnLst/>
              <a:rect l="l" t="t" r="r" b="b"/>
              <a:pathLst>
                <a:path w="874169" h="822357">
                  <a:moveTo>
                    <a:pt x="0" y="0"/>
                  </a:moveTo>
                  <a:lnTo>
                    <a:pt x="874169" y="0"/>
                  </a:lnTo>
                  <a:lnTo>
                    <a:pt x="874169" y="822357"/>
                  </a:lnTo>
                  <a:lnTo>
                    <a:pt x="0" y="8223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905" t="-39430" r="-206716" b="-66016"/>
              </a:stretch>
            </a:blipFill>
          </p:spPr>
          <p:txBody>
            <a:bodyPr/>
            <a:lstStyle/>
            <a:p>
              <a:endParaRPr lang="he-IL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88317" y="2168315"/>
              <a:ext cx="7418780" cy="16783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 rtl="1">
                <a:lnSpc>
                  <a:spcPts val="2400"/>
                </a:lnSpc>
                <a:spcBef>
                  <a:spcPct val="0"/>
                </a:spcBef>
              </a:pPr>
              <a:r>
                <a:rPr lang="he-IL" sz="2400" spc="-48">
                  <a:solidFill>
                    <a:srgbClr val="264F73"/>
                  </a:solidFill>
                  <a:latin typeface="Rubik"/>
                  <a:ea typeface="Rubik"/>
                  <a:cs typeface="Rubik"/>
                  <a:sym typeface="Rubik"/>
                  <a:rtl/>
                </a:rPr>
                <a:t>האתגר: </a:t>
              </a:r>
              <a:r>
                <a:rPr lang="he-IL" sz="2400" b="1" spc="-48">
                  <a:solidFill>
                    <a:srgbClr val="264F73"/>
                  </a:solidFill>
                  <a:latin typeface="Rubik Bold"/>
                  <a:ea typeface="Rubik Bold"/>
                  <a:cs typeface="Rubik Bold"/>
                  <a:sym typeface="Rubik Bold"/>
                  <a:rtl/>
                </a:rPr>
                <a:t>סכנת שינון</a:t>
              </a:r>
              <a:r>
                <a:rPr lang="he-IL" sz="2400" spc="-48">
                  <a:solidFill>
                    <a:srgbClr val="264F73"/>
                  </a:solidFill>
                  <a:latin typeface="Rubik"/>
                  <a:ea typeface="Rubik"/>
                  <a:cs typeface="Rubik"/>
                  <a:sym typeface="Rubik"/>
                  <a:rtl/>
                </a:rPr>
                <a:t>, הלומדת עלולה לשנן תשובות בעל פה רק כדי לצבור את כל הנקודות, מה שיוצר אשליה שהיא הבינה את החומר.</a:t>
              </a:r>
            </a:p>
            <a:p>
              <a:pPr algn="r" rtl="1">
                <a:lnSpc>
                  <a:spcPts val="2400"/>
                </a:lnSpc>
                <a:spcBef>
                  <a:spcPct val="0"/>
                </a:spcBef>
              </a:pPr>
              <a:endParaRPr lang="he-IL" sz="2400" spc="-48">
                <a:solidFill>
                  <a:srgbClr val="264F73"/>
                </a:solidFill>
                <a:latin typeface="Rubik"/>
                <a:ea typeface="Rubik"/>
                <a:cs typeface="Rubik"/>
                <a:sym typeface="Rubik"/>
                <a:rtl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53728" y="4277515"/>
              <a:ext cx="7863003" cy="12719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 rtl="1">
                <a:lnSpc>
                  <a:spcPts val="2400"/>
                </a:lnSpc>
                <a:spcBef>
                  <a:spcPct val="0"/>
                </a:spcBef>
              </a:pPr>
              <a:r>
                <a:rPr lang="he-IL" sz="2400" b="1" spc="-48" dirty="0">
                  <a:solidFill>
                    <a:srgbClr val="264F73"/>
                  </a:solidFill>
                  <a:latin typeface="Rubik Bold"/>
                  <a:ea typeface="Rubik Bold"/>
                  <a:cs typeface="Rubik Bold"/>
                  <a:sym typeface="Rubik Bold"/>
                  <a:rtl/>
                </a:rPr>
                <a:t>דרשו הסבר, </a:t>
              </a:r>
              <a:r>
                <a:rPr lang="he-IL" sz="2400" spc="-48" dirty="0">
                  <a:solidFill>
                    <a:srgbClr val="264F73"/>
                  </a:solidFill>
                  <a:latin typeface="Rubik"/>
                  <a:ea typeface="Rubik"/>
                  <a:cs typeface="Rubik"/>
                  <a:sym typeface="Rubik"/>
                  <a:rtl/>
                </a:rPr>
                <a:t>עצרו אותה ובקשו ממנה להסביר את דרך הפתרון בקול רם, כדי לוודא הבנה אמיתית ולא רק ניחוש או שינון.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7292865" y="0"/>
              <a:ext cx="2751031" cy="2454606"/>
            </a:xfrm>
            <a:custGeom>
              <a:avLst/>
              <a:gdLst/>
              <a:ahLst/>
              <a:cxnLst/>
              <a:rect l="l" t="t" r="r" b="b"/>
              <a:pathLst>
                <a:path w="2751031" h="2454606">
                  <a:moveTo>
                    <a:pt x="0" y="0"/>
                  </a:moveTo>
                  <a:lnTo>
                    <a:pt x="2751031" y="0"/>
                  </a:lnTo>
                  <a:lnTo>
                    <a:pt x="2751031" y="2454606"/>
                  </a:lnTo>
                  <a:lnTo>
                    <a:pt x="0" y="24546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he-IL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128" b="-10128"/>
            </a:stretch>
          </a:blip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he-IL" dirty="0"/>
          </a:p>
        </p:txBody>
      </p:sp>
      <p:grpSp>
        <p:nvGrpSpPr>
          <p:cNvPr id="3" name="Group 3"/>
          <p:cNvGrpSpPr/>
          <p:nvPr/>
        </p:nvGrpSpPr>
        <p:grpSpPr>
          <a:xfrm>
            <a:off x="5890425" y="2270776"/>
            <a:ext cx="6047967" cy="1541243"/>
            <a:chOff x="0" y="0"/>
            <a:chExt cx="2150388" cy="54799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" name="Freeform 4"/>
            <p:cNvSpPr/>
            <p:nvPr/>
          </p:nvSpPr>
          <p:spPr>
            <a:xfrm>
              <a:off x="0" y="0"/>
              <a:ext cx="2150388" cy="547998"/>
            </a:xfrm>
            <a:custGeom>
              <a:avLst/>
              <a:gdLst/>
              <a:ahLst/>
              <a:cxnLst/>
              <a:rect l="l" t="t" r="r" b="b"/>
              <a:pathLst>
                <a:path w="2150388" h="547998">
                  <a:moveTo>
                    <a:pt x="0" y="0"/>
                  </a:moveTo>
                  <a:lnTo>
                    <a:pt x="2150388" y="0"/>
                  </a:lnTo>
                  <a:lnTo>
                    <a:pt x="2150388" y="547998"/>
                  </a:lnTo>
                  <a:lnTo>
                    <a:pt x="0" y="54799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he-IL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150388" cy="586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890425" y="4678794"/>
            <a:ext cx="6047967" cy="1541243"/>
            <a:chOff x="0" y="0"/>
            <a:chExt cx="2150388" cy="54799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7" name="Freeform 7"/>
            <p:cNvSpPr/>
            <p:nvPr/>
          </p:nvSpPr>
          <p:spPr>
            <a:xfrm>
              <a:off x="0" y="0"/>
              <a:ext cx="2150388" cy="547998"/>
            </a:xfrm>
            <a:custGeom>
              <a:avLst/>
              <a:gdLst/>
              <a:ahLst/>
              <a:cxnLst/>
              <a:rect l="l" t="t" r="r" b="b"/>
              <a:pathLst>
                <a:path w="2150388" h="547998">
                  <a:moveTo>
                    <a:pt x="0" y="0"/>
                  </a:moveTo>
                  <a:lnTo>
                    <a:pt x="2150388" y="0"/>
                  </a:lnTo>
                  <a:lnTo>
                    <a:pt x="2150388" y="547998"/>
                  </a:lnTo>
                  <a:lnTo>
                    <a:pt x="0" y="54799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150388" cy="586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890425" y="7151245"/>
            <a:ext cx="6047967" cy="1541243"/>
            <a:chOff x="0" y="0"/>
            <a:chExt cx="2150388" cy="54799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50388" cy="547998"/>
            </a:xfrm>
            <a:custGeom>
              <a:avLst/>
              <a:gdLst/>
              <a:ahLst/>
              <a:cxnLst/>
              <a:rect l="l" t="t" r="r" b="b"/>
              <a:pathLst>
                <a:path w="2150388" h="547998">
                  <a:moveTo>
                    <a:pt x="0" y="0"/>
                  </a:moveTo>
                  <a:lnTo>
                    <a:pt x="2150388" y="0"/>
                  </a:lnTo>
                  <a:lnTo>
                    <a:pt x="2150388" y="547998"/>
                  </a:lnTo>
                  <a:lnTo>
                    <a:pt x="0" y="54799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he-IL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150388" cy="586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3978533" y="1114425"/>
            <a:ext cx="3280767" cy="761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5600"/>
              </a:lnSpc>
              <a:spcBef>
                <a:spcPct val="0"/>
              </a:spcBef>
            </a:pPr>
            <a:r>
              <a:rPr lang="he-IL" sz="5600" b="1" spc="-112" dirty="0">
                <a:solidFill>
                  <a:srgbClr val="264F73"/>
                </a:solidFill>
                <a:latin typeface="Rubik Bold"/>
                <a:ea typeface="Rubik Bold"/>
                <a:cs typeface="Rubik Bold"/>
                <a:sym typeface="Rubik Bold"/>
                <a:rtl/>
              </a:rPr>
              <a:t>עזרי עבודה</a:t>
            </a:r>
          </a:p>
        </p:txBody>
      </p:sp>
      <p:sp>
        <p:nvSpPr>
          <p:cNvPr id="14" name="Freeform 14"/>
          <p:cNvSpPr/>
          <p:nvPr/>
        </p:nvSpPr>
        <p:spPr>
          <a:xfrm>
            <a:off x="15300888" y="274777"/>
            <a:ext cx="382448" cy="382448"/>
          </a:xfrm>
          <a:custGeom>
            <a:avLst/>
            <a:gdLst/>
            <a:ahLst/>
            <a:cxnLst/>
            <a:rect l="l" t="t" r="r" b="b"/>
            <a:pathLst>
              <a:path w="382448" h="382448">
                <a:moveTo>
                  <a:pt x="0" y="0"/>
                </a:moveTo>
                <a:lnTo>
                  <a:pt x="382448" y="0"/>
                </a:lnTo>
                <a:lnTo>
                  <a:pt x="382448" y="382448"/>
                </a:lnTo>
                <a:lnTo>
                  <a:pt x="0" y="3824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5" name="Freeform 15"/>
          <p:cNvSpPr/>
          <p:nvPr/>
        </p:nvSpPr>
        <p:spPr>
          <a:xfrm>
            <a:off x="13851323" y="274777"/>
            <a:ext cx="382448" cy="382448"/>
          </a:xfrm>
          <a:custGeom>
            <a:avLst/>
            <a:gdLst/>
            <a:ahLst/>
            <a:cxnLst/>
            <a:rect l="l" t="t" r="r" b="b"/>
            <a:pathLst>
              <a:path w="382448" h="382448">
                <a:moveTo>
                  <a:pt x="0" y="0"/>
                </a:moveTo>
                <a:lnTo>
                  <a:pt x="382448" y="0"/>
                </a:lnTo>
                <a:lnTo>
                  <a:pt x="382448" y="382448"/>
                </a:lnTo>
                <a:lnTo>
                  <a:pt x="0" y="3824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6" name="Freeform 16"/>
          <p:cNvSpPr/>
          <p:nvPr/>
        </p:nvSpPr>
        <p:spPr>
          <a:xfrm>
            <a:off x="16876852" y="274777"/>
            <a:ext cx="382448" cy="382448"/>
          </a:xfrm>
          <a:custGeom>
            <a:avLst/>
            <a:gdLst/>
            <a:ahLst/>
            <a:cxnLst/>
            <a:rect l="l" t="t" r="r" b="b"/>
            <a:pathLst>
              <a:path w="382448" h="382448">
                <a:moveTo>
                  <a:pt x="0" y="0"/>
                </a:moveTo>
                <a:lnTo>
                  <a:pt x="382448" y="0"/>
                </a:lnTo>
                <a:lnTo>
                  <a:pt x="382448" y="382448"/>
                </a:lnTo>
                <a:lnTo>
                  <a:pt x="0" y="3824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7" name="AutoShape 17"/>
          <p:cNvSpPr/>
          <p:nvPr/>
        </p:nvSpPr>
        <p:spPr>
          <a:xfrm flipH="1" flipV="1">
            <a:off x="15683336" y="466001"/>
            <a:ext cx="1193516" cy="0"/>
          </a:xfrm>
          <a:prstGeom prst="line">
            <a:avLst/>
          </a:prstGeom>
          <a:ln w="47625" cap="rnd">
            <a:solidFill>
              <a:srgbClr val="F2C762">
                <a:alpha val="80000"/>
              </a:srgbClr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he-IL"/>
          </a:p>
        </p:txBody>
      </p:sp>
      <p:sp>
        <p:nvSpPr>
          <p:cNvPr id="18" name="AutoShape 18"/>
          <p:cNvSpPr/>
          <p:nvPr/>
        </p:nvSpPr>
        <p:spPr>
          <a:xfrm flipH="1">
            <a:off x="14233771" y="466001"/>
            <a:ext cx="1067117" cy="0"/>
          </a:xfrm>
          <a:prstGeom prst="line">
            <a:avLst/>
          </a:prstGeom>
          <a:ln w="47625" cap="rnd">
            <a:solidFill>
              <a:srgbClr val="F2C762">
                <a:alpha val="80000"/>
              </a:srgbClr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he-IL"/>
          </a:p>
        </p:txBody>
      </p:sp>
      <p:sp>
        <p:nvSpPr>
          <p:cNvPr id="19" name="AutoShape 19"/>
          <p:cNvSpPr/>
          <p:nvPr/>
        </p:nvSpPr>
        <p:spPr>
          <a:xfrm flipH="1">
            <a:off x="12784206" y="466001"/>
            <a:ext cx="1067117" cy="0"/>
          </a:xfrm>
          <a:prstGeom prst="line">
            <a:avLst/>
          </a:prstGeom>
          <a:ln w="47625" cap="rnd">
            <a:solidFill>
              <a:srgbClr val="F2C762">
                <a:alpha val="80000"/>
              </a:srgbClr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he-IL"/>
          </a:p>
        </p:txBody>
      </p:sp>
      <p:sp>
        <p:nvSpPr>
          <p:cNvPr id="20" name="Freeform 20"/>
          <p:cNvSpPr/>
          <p:nvPr/>
        </p:nvSpPr>
        <p:spPr>
          <a:xfrm>
            <a:off x="12401758" y="274777"/>
            <a:ext cx="382448" cy="382448"/>
          </a:xfrm>
          <a:custGeom>
            <a:avLst/>
            <a:gdLst/>
            <a:ahLst/>
            <a:cxnLst/>
            <a:rect l="l" t="t" r="r" b="b"/>
            <a:pathLst>
              <a:path w="382448" h="382448">
                <a:moveTo>
                  <a:pt x="0" y="0"/>
                </a:moveTo>
                <a:lnTo>
                  <a:pt x="382448" y="0"/>
                </a:lnTo>
                <a:lnTo>
                  <a:pt x="382448" y="382448"/>
                </a:lnTo>
                <a:lnTo>
                  <a:pt x="0" y="3824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21" name="AutoShape 21"/>
          <p:cNvSpPr/>
          <p:nvPr/>
        </p:nvSpPr>
        <p:spPr>
          <a:xfrm>
            <a:off x="15492112" y="657225"/>
            <a:ext cx="0" cy="589768"/>
          </a:xfrm>
          <a:prstGeom prst="line">
            <a:avLst/>
          </a:prstGeom>
          <a:ln w="47625" cap="rnd">
            <a:solidFill>
              <a:srgbClr val="F2C762">
                <a:alpha val="80000"/>
              </a:srgbClr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he-IL"/>
          </a:p>
        </p:txBody>
      </p:sp>
      <p:sp>
        <p:nvSpPr>
          <p:cNvPr id="22" name="Freeform 22"/>
          <p:cNvSpPr/>
          <p:nvPr/>
        </p:nvSpPr>
        <p:spPr>
          <a:xfrm>
            <a:off x="11554088" y="7391622"/>
            <a:ext cx="1117321" cy="1060488"/>
          </a:xfrm>
          <a:custGeom>
            <a:avLst/>
            <a:gdLst/>
            <a:ahLst/>
            <a:cxnLst/>
            <a:rect l="l" t="t" r="r" b="b"/>
            <a:pathLst>
              <a:path w="1117321" h="1060488">
                <a:moveTo>
                  <a:pt x="0" y="0"/>
                </a:moveTo>
                <a:lnTo>
                  <a:pt x="1117320" y="0"/>
                </a:lnTo>
                <a:lnTo>
                  <a:pt x="1117320" y="1060488"/>
                </a:lnTo>
                <a:lnTo>
                  <a:pt x="0" y="10604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0575" r="-11236" b="-6267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24" name="Freeform 24"/>
          <p:cNvSpPr/>
          <p:nvPr/>
        </p:nvSpPr>
        <p:spPr>
          <a:xfrm>
            <a:off x="11690605" y="4740797"/>
            <a:ext cx="1182039" cy="1417236"/>
          </a:xfrm>
          <a:custGeom>
            <a:avLst/>
            <a:gdLst/>
            <a:ahLst/>
            <a:cxnLst/>
            <a:rect l="l" t="t" r="r" b="b"/>
            <a:pathLst>
              <a:path w="1182039" h="1417236">
                <a:moveTo>
                  <a:pt x="0" y="0"/>
                </a:moveTo>
                <a:lnTo>
                  <a:pt x="1182039" y="0"/>
                </a:lnTo>
                <a:lnTo>
                  <a:pt x="1182039" y="1417236"/>
                </a:lnTo>
                <a:lnTo>
                  <a:pt x="0" y="141723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2969" r="-7368"/>
            </a:stretch>
          </a:blipFill>
          <a:ln w="19050" cap="sq">
            <a:solidFill>
              <a:srgbClr val="4A219E"/>
            </a:solidFill>
            <a:prstDash val="solid"/>
            <a:miter/>
          </a:ln>
        </p:spPr>
        <p:txBody>
          <a:bodyPr/>
          <a:lstStyle/>
          <a:p>
            <a:endParaRPr lang="he-IL"/>
          </a:p>
        </p:txBody>
      </p:sp>
      <p:sp>
        <p:nvSpPr>
          <p:cNvPr id="25" name="TextBox 25"/>
          <p:cNvSpPr txBox="1"/>
          <p:nvPr/>
        </p:nvSpPr>
        <p:spPr>
          <a:xfrm>
            <a:off x="6014250" y="2734692"/>
            <a:ext cx="5414572" cy="924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400"/>
              </a:lnSpc>
            </a:pPr>
            <a:r>
              <a:rPr lang="he-IL" sz="2400" b="1" spc="-48" dirty="0">
                <a:solidFill>
                  <a:srgbClr val="800080"/>
                </a:solidFill>
                <a:latin typeface="Rubik Bold"/>
                <a:ea typeface="Rubik Bold"/>
                <a:cs typeface="Rubik Bold"/>
                <a:sym typeface="Rubik Bold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  <a:rtl/>
              </a:rPr>
              <a:t>צ’אט </a:t>
            </a:r>
            <a:r>
              <a:rPr lang="he-IL" sz="2400" b="1" spc="-48" dirty="0" err="1">
                <a:solidFill>
                  <a:srgbClr val="800080"/>
                </a:solidFill>
                <a:latin typeface="Rubik Bold"/>
                <a:ea typeface="Rubik Bold"/>
                <a:cs typeface="Rubik Bold"/>
                <a:sym typeface="Rubik Bold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  <a:rtl/>
              </a:rPr>
              <a:t>בוט</a:t>
            </a:r>
            <a:r>
              <a:rPr lang="he-IL" sz="2400" b="1" spc="-48" dirty="0">
                <a:solidFill>
                  <a:srgbClr val="264F73"/>
                </a:solidFill>
                <a:latin typeface="Rubik Bold"/>
                <a:ea typeface="Rubik Bold"/>
                <a:cs typeface="Rubik Bold"/>
                <a:sym typeface="Rubik Bold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  <a:rtl/>
              </a:rPr>
              <a:t> ייעודי לתכנון משחק</a:t>
            </a:r>
            <a:endParaRPr lang="he-IL" sz="2400" b="1" spc="-48" dirty="0">
              <a:solidFill>
                <a:srgbClr val="264F73"/>
              </a:solidFill>
              <a:latin typeface="Rubik Bold"/>
              <a:ea typeface="Rubik Bold"/>
              <a:cs typeface="Rubik Bold"/>
              <a:sym typeface="Rubik Bold"/>
              <a:rtl/>
            </a:endParaRPr>
          </a:p>
          <a:p>
            <a:pPr algn="r" rtl="1">
              <a:lnSpc>
                <a:spcPts val="2400"/>
              </a:lnSpc>
              <a:spcBef>
                <a:spcPct val="0"/>
              </a:spcBef>
            </a:pPr>
            <a:r>
              <a:rPr lang="he-IL" sz="2400" spc="-48" dirty="0">
                <a:solidFill>
                  <a:srgbClr val="264F73"/>
                </a:solidFill>
                <a:latin typeface="Rubik"/>
                <a:ea typeface="Rubik"/>
                <a:cs typeface="Rubik"/>
                <a:sym typeface="Rubik"/>
                <a:rtl/>
              </a:rPr>
              <a:t>אל תשכחו, מומלץ להעלות אליו את התבנית</a:t>
            </a:r>
          </a:p>
          <a:p>
            <a:pPr algn="r" rtl="1">
              <a:lnSpc>
                <a:spcPts val="2400"/>
              </a:lnSpc>
              <a:spcBef>
                <a:spcPct val="0"/>
              </a:spcBef>
            </a:pPr>
            <a:endParaRPr lang="he-IL" sz="2400" spc="-48" dirty="0">
              <a:solidFill>
                <a:srgbClr val="264F73"/>
              </a:solidFill>
              <a:latin typeface="Rubik"/>
              <a:ea typeface="Rubik"/>
              <a:cs typeface="Rubik"/>
              <a:sym typeface="Rubik"/>
              <a:rtl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6014250" y="4990310"/>
            <a:ext cx="5414572" cy="946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400"/>
              </a:lnSpc>
            </a:pPr>
            <a:r>
              <a:rPr lang="he-IL" sz="2400" spc="-48" dirty="0">
                <a:solidFill>
                  <a:srgbClr val="264F73"/>
                </a:solidFill>
                <a:latin typeface="Rubik"/>
                <a:ea typeface="Rubik"/>
                <a:cs typeface="Rubik"/>
                <a:sym typeface="Rubik"/>
                <a:rtl/>
              </a:rPr>
              <a:t>הקישור ל</a:t>
            </a:r>
            <a:r>
              <a:rPr lang="he-IL" sz="2400" b="1" u="sng" spc="-48" dirty="0">
                <a:solidFill>
                  <a:srgbClr val="264F73"/>
                </a:solidFill>
                <a:latin typeface="Rubik Bold"/>
                <a:ea typeface="Rubik Bold"/>
                <a:cs typeface="Rubik Bold"/>
                <a:sym typeface="Rubik Bold"/>
                <a:hlinkClick r:id="rId9" tooltip="https://docs.google.com/document/d/1kNhj-cknmVTecZ4ioIdn0lQ_V52jtEiS/edit?usp=sharing&amp;ouid=101036981937222449313&amp;rtpof=true&amp;sd=tru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  <a:rtl/>
              </a:rPr>
              <a:t>תבנית לתכנון שיעור מבוסס משחק</a:t>
            </a:r>
          </a:p>
          <a:p>
            <a:pPr algn="r" rtl="1">
              <a:lnSpc>
                <a:spcPts val="2400"/>
              </a:lnSpc>
              <a:spcBef>
                <a:spcPct val="0"/>
              </a:spcBef>
            </a:pPr>
            <a:r>
              <a:rPr lang="he-IL" sz="2400" spc="-48" dirty="0">
                <a:solidFill>
                  <a:srgbClr val="264F73"/>
                </a:solidFill>
                <a:latin typeface="Rubik"/>
                <a:ea typeface="Rubik"/>
                <a:cs typeface="Rubik"/>
                <a:sym typeface="Rubik"/>
                <a:rtl/>
              </a:rPr>
              <a:t>תוכלו להיכנס לקישור וליצור לכם עותק או להוריד כקובץ למילוי עצמי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890425" y="7767561"/>
            <a:ext cx="5414572" cy="308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400"/>
              </a:lnSpc>
              <a:spcBef>
                <a:spcPct val="0"/>
              </a:spcBef>
            </a:pPr>
            <a:r>
              <a:rPr lang="he-IL" sz="2400" spc="-48" dirty="0">
                <a:solidFill>
                  <a:srgbClr val="264F73"/>
                </a:solidFill>
                <a:latin typeface="Rubik"/>
                <a:ea typeface="Rubik"/>
                <a:cs typeface="Rubik"/>
                <a:sym typeface="Rubik"/>
                <a:rtl/>
              </a:rPr>
              <a:t>הקישור ל</a:t>
            </a:r>
            <a:r>
              <a:rPr lang="he-IL" sz="2400" b="1" u="sng" spc="-48" dirty="0">
                <a:solidFill>
                  <a:srgbClr val="0000FF"/>
                </a:solidFill>
                <a:latin typeface="Rubik Bold"/>
                <a:ea typeface="Rubik Bold"/>
                <a:cs typeface="Rubik Bold"/>
                <a:sym typeface="Rubik Bold"/>
                <a:hlinkClick r:id="rId10" tooltip="https://ed9-bot.github.io/portelem-guide-game/guid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  <a:rtl/>
              </a:rPr>
              <a:t>מדריך </a:t>
            </a:r>
            <a:r>
              <a:rPr lang="he-IL" sz="2400" b="1" u="sng" spc="-48" dirty="0" err="1">
                <a:solidFill>
                  <a:srgbClr val="264F73"/>
                </a:solidFill>
                <a:latin typeface="Rubik Bold"/>
                <a:ea typeface="Rubik Bold"/>
                <a:cs typeface="Rubik Bold"/>
                <a:sym typeface="Rubik Bold"/>
                <a:hlinkClick r:id="rId10" tooltip="https://ed9-bot.github.io/portelem-guide-game/guid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  <a:rtl/>
              </a:rPr>
              <a:t>לפורטל"מ</a:t>
            </a:r>
            <a:endParaRPr lang="he-IL" sz="2400" b="1" u="sng" spc="-48" dirty="0">
              <a:solidFill>
                <a:srgbClr val="264F73"/>
              </a:solidFill>
              <a:latin typeface="Rubik Bold"/>
              <a:ea typeface="Rubik Bold"/>
              <a:cs typeface="Rubik Bold"/>
              <a:sym typeface="Rubik Bold"/>
              <a:hlinkClick r:id="rId10" tooltip="https://ed9-bot.github.io/portelem-guide-game/guide.html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  <a:rtl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3746181" y="712470"/>
            <a:ext cx="592733" cy="163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1200"/>
              </a:lnSpc>
              <a:spcBef>
                <a:spcPct val="0"/>
              </a:spcBef>
            </a:pPr>
            <a:r>
              <a:rPr lang="he-IL" sz="1200" spc="-24">
                <a:solidFill>
                  <a:srgbClr val="264F73"/>
                </a:solidFill>
                <a:latin typeface="Rubik"/>
                <a:ea typeface="Rubik"/>
                <a:cs typeface="Rubik"/>
                <a:sym typeface="Rubik"/>
                <a:rtl/>
              </a:rPr>
              <a:t>ארגז כלים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6751419" y="770572"/>
            <a:ext cx="633313" cy="163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1200"/>
              </a:lnSpc>
              <a:spcBef>
                <a:spcPct val="0"/>
              </a:spcBef>
            </a:pPr>
            <a:r>
              <a:rPr lang="he-IL" sz="1200" spc="-24">
                <a:solidFill>
                  <a:srgbClr val="264F73"/>
                </a:solidFill>
                <a:latin typeface="Rubik"/>
                <a:ea typeface="Rubik"/>
                <a:cs typeface="Rubik"/>
                <a:sym typeface="Rubik"/>
                <a:rtl/>
              </a:rPr>
              <a:t>תוכן לימודי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345679" y="712470"/>
            <a:ext cx="494605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1200"/>
              </a:lnSpc>
            </a:pPr>
            <a:r>
              <a:rPr lang="he-IL" sz="1200" spc="-24">
                <a:solidFill>
                  <a:srgbClr val="264F73"/>
                </a:solidFill>
                <a:latin typeface="Rubik"/>
                <a:ea typeface="Rubik"/>
                <a:cs typeface="Rubik"/>
                <a:sym typeface="Rubik"/>
                <a:rtl/>
              </a:rPr>
              <a:t>השראות</a:t>
            </a:r>
          </a:p>
          <a:p>
            <a:pPr algn="r" rtl="1">
              <a:lnSpc>
                <a:spcPts val="1200"/>
              </a:lnSpc>
              <a:spcBef>
                <a:spcPct val="0"/>
              </a:spcBef>
            </a:pPr>
            <a:endParaRPr lang="he-IL" sz="1200" spc="-24">
              <a:solidFill>
                <a:srgbClr val="264F73"/>
              </a:solidFill>
              <a:latin typeface="Rubik"/>
              <a:ea typeface="Rubik"/>
              <a:cs typeface="Rubik"/>
              <a:sym typeface="Rubik"/>
              <a:rtl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AC743A4-9C8F-BBCD-2B58-9A3362BFA8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74250" y="2584836"/>
            <a:ext cx="876995" cy="876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128" b="-10128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Freeform 3"/>
          <p:cNvSpPr/>
          <p:nvPr/>
        </p:nvSpPr>
        <p:spPr>
          <a:xfrm>
            <a:off x="14042548" y="519386"/>
            <a:ext cx="145734" cy="932859"/>
          </a:xfrm>
          <a:custGeom>
            <a:avLst/>
            <a:gdLst/>
            <a:ahLst/>
            <a:cxnLst/>
            <a:rect l="l" t="t" r="r" b="b"/>
            <a:pathLst>
              <a:path w="145734" h="932859">
                <a:moveTo>
                  <a:pt x="145733" y="932859"/>
                </a:moveTo>
                <a:lnTo>
                  <a:pt x="72866" y="932859"/>
                </a:lnTo>
                <a:cubicBezTo>
                  <a:pt x="32624" y="932859"/>
                  <a:pt x="0" y="900235"/>
                  <a:pt x="0" y="859992"/>
                </a:cubicBezTo>
                <a:lnTo>
                  <a:pt x="0" y="0"/>
                </a:lnTo>
              </a:path>
            </a:pathLst>
          </a:custGeom>
          <a:ln w="47625" cap="rnd">
            <a:solidFill>
              <a:srgbClr val="F2C762">
                <a:alpha val="80000"/>
              </a:srgbClr>
            </a:solidFill>
            <a:prstDash val="sysDash"/>
            <a:headEnd type="none" w="sm" len="sm"/>
            <a:tailEnd type="oval" w="lg" len="lg"/>
          </a:ln>
        </p:spPr>
        <p:txBody>
          <a:bodyPr/>
          <a:lstStyle/>
          <a:p>
            <a:endParaRPr lang="he-IL"/>
          </a:p>
        </p:txBody>
      </p:sp>
      <p:sp>
        <p:nvSpPr>
          <p:cNvPr id="4" name="TextBox 4"/>
          <p:cNvSpPr txBox="1"/>
          <p:nvPr/>
        </p:nvSpPr>
        <p:spPr>
          <a:xfrm>
            <a:off x="14188281" y="1114425"/>
            <a:ext cx="3071019" cy="761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5600"/>
              </a:lnSpc>
              <a:spcBef>
                <a:spcPct val="0"/>
              </a:spcBef>
            </a:pPr>
            <a:r>
              <a:rPr lang="he-IL" sz="5600" b="1" spc="-112">
                <a:solidFill>
                  <a:srgbClr val="264F73"/>
                </a:solidFill>
                <a:latin typeface="Rubik Bold"/>
                <a:ea typeface="Rubik Bold"/>
                <a:cs typeface="Rubik Bold"/>
                <a:sym typeface="Rubik Bold"/>
                <a:rtl/>
              </a:rPr>
              <a:t>ארגז כלים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780835" y="2447290"/>
            <a:ext cx="3333752" cy="641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2400"/>
              </a:lnSpc>
            </a:pPr>
            <a:r>
              <a:rPr lang="he-IL" sz="2400" b="1" spc="-48">
                <a:solidFill>
                  <a:srgbClr val="65A0B3"/>
                </a:solidFill>
                <a:latin typeface="Rubik Bold"/>
                <a:ea typeface="Rubik Bold"/>
                <a:cs typeface="Rubik Bold"/>
                <a:sym typeface="Rubik Bold"/>
                <a:rtl/>
              </a:rPr>
              <a:t>משחקים מוכרים שאפשר </a:t>
            </a:r>
          </a:p>
          <a:p>
            <a:pPr algn="ctr" rtl="1">
              <a:lnSpc>
                <a:spcPts val="2400"/>
              </a:lnSpc>
              <a:spcBef>
                <a:spcPct val="0"/>
              </a:spcBef>
            </a:pPr>
            <a:r>
              <a:rPr lang="he-IL" sz="2400" b="1" spc="-48">
                <a:solidFill>
                  <a:srgbClr val="65A0B3"/>
                </a:solidFill>
                <a:latin typeface="Rubik Bold"/>
                <a:ea typeface="Rubik Bold"/>
                <a:cs typeface="Rubik Bold"/>
                <a:sym typeface="Rubik Bold"/>
                <a:rtl/>
              </a:rPr>
              <a:t>להמיר למשחק לימודי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518951" y="2599690"/>
            <a:ext cx="4020939" cy="337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2400"/>
              </a:lnSpc>
              <a:spcBef>
                <a:spcPct val="0"/>
              </a:spcBef>
            </a:pPr>
            <a:r>
              <a:rPr lang="he-IL" sz="2400" b="1" spc="-48" dirty="0">
                <a:solidFill>
                  <a:srgbClr val="EBC369"/>
                </a:solidFill>
                <a:latin typeface="Rubik Bold"/>
                <a:ea typeface="Rubik Bold"/>
                <a:cs typeface="Rubik Bold"/>
                <a:sym typeface="Rubik Bold"/>
                <a:rtl/>
              </a:rPr>
              <a:t>מחוללי משחקים ייעודיים ללמידה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836386" y="6492481"/>
            <a:ext cx="3110508" cy="337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2400"/>
              </a:lnSpc>
              <a:spcBef>
                <a:spcPct val="0"/>
              </a:spcBef>
            </a:pPr>
            <a:r>
              <a:rPr lang="he-IL" sz="2400" b="1" spc="-48">
                <a:solidFill>
                  <a:srgbClr val="264F73"/>
                </a:solidFill>
                <a:latin typeface="Rubik Bold"/>
                <a:ea typeface="Rubik Bold"/>
                <a:cs typeface="Rubik Bold"/>
                <a:sym typeface="Rubik Bold"/>
                <a:rtl/>
              </a:rPr>
              <a:t>אתרים נוספים לשימושכם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907337" y="2599690"/>
            <a:ext cx="4697214" cy="337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2400"/>
              </a:lnSpc>
              <a:spcBef>
                <a:spcPct val="0"/>
              </a:spcBef>
            </a:pPr>
            <a:r>
              <a:rPr lang="he-IL" sz="2400" b="1" spc="-48">
                <a:solidFill>
                  <a:srgbClr val="AD3838"/>
                </a:solidFill>
                <a:latin typeface="Rubik Bold"/>
                <a:ea typeface="Rubik Bold"/>
                <a:cs typeface="Rubik Bold"/>
                <a:sym typeface="Rubik Bold"/>
                <a:rtl/>
              </a:rPr>
              <a:t>כלי </a:t>
            </a:r>
            <a:r>
              <a:rPr lang="en-US" sz="2400" b="1" spc="-48">
                <a:solidFill>
                  <a:srgbClr val="AD3838"/>
                </a:solidFill>
                <a:latin typeface="Rubik Bold"/>
                <a:ea typeface="Rubik Bold"/>
                <a:cs typeface="Rubik Bold"/>
                <a:sym typeface="Rubik Bold"/>
              </a:rPr>
              <a:t>AI</a:t>
            </a:r>
            <a:r>
              <a:rPr lang="he-IL" sz="2400" b="1" spc="-48">
                <a:solidFill>
                  <a:srgbClr val="AD3838"/>
                </a:solidFill>
                <a:latin typeface="Rubik Bold"/>
                <a:ea typeface="Rubik Bold"/>
                <a:cs typeface="Rubik Bold"/>
                <a:sym typeface="Rubik Bold"/>
                <a:rtl/>
              </a:rPr>
              <a:t> ליצירת משחק ב</a:t>
            </a:r>
            <a:r>
              <a:rPr lang="en-US" sz="2400" b="1" spc="-48">
                <a:solidFill>
                  <a:srgbClr val="AD3838"/>
                </a:solidFill>
                <a:latin typeface="Rubik Bold"/>
                <a:ea typeface="Rubik Bold"/>
                <a:cs typeface="Rubik Bold"/>
                <a:sym typeface="Rubik Bold"/>
              </a:rPr>
              <a:t>VIBE CODING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7721121" y="3314167"/>
            <a:ext cx="3616600" cy="4217174"/>
            <a:chOff x="0" y="0"/>
            <a:chExt cx="4822133" cy="562289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4822133" cy="5622899"/>
              <a:chOff x="0" y="0"/>
              <a:chExt cx="1285902" cy="149944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285902" cy="1499440"/>
              </a:xfrm>
              <a:custGeom>
                <a:avLst/>
                <a:gdLst/>
                <a:ahLst/>
                <a:cxnLst/>
                <a:rect l="l" t="t" r="r" b="b"/>
                <a:pathLst>
                  <a:path w="1285902" h="1499440">
                    <a:moveTo>
                      <a:pt x="0" y="0"/>
                    </a:moveTo>
                    <a:lnTo>
                      <a:pt x="1285902" y="0"/>
                    </a:lnTo>
                    <a:lnTo>
                      <a:pt x="1285902" y="1499440"/>
                    </a:lnTo>
                    <a:lnTo>
                      <a:pt x="0" y="1499440"/>
                    </a:lnTo>
                    <a:close/>
                  </a:path>
                </a:pathLst>
              </a:custGeom>
              <a:solidFill>
                <a:srgbClr val="264F73"/>
              </a:solidFill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1285902" cy="15375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540"/>
                  </a:lnSpc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141322" y="356534"/>
              <a:ext cx="4535620" cy="33039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18160" lvl="1" indent="-259080" algn="r" rtl="1">
                <a:lnSpc>
                  <a:spcPts val="2400"/>
                </a:lnSpc>
                <a:buFont typeface="Arial"/>
                <a:buChar char="•"/>
              </a:pPr>
              <a:r>
                <a:rPr lang="he-IL" sz="2400" u="sng" spc="-48" dirty="0" err="1">
                  <a:solidFill>
                    <a:schemeClr val="bg1"/>
                  </a:solidFill>
                  <a:latin typeface="Rubik"/>
                  <a:ea typeface="Rubik"/>
                  <a:cs typeface="Rubik"/>
                  <a:sym typeface="Rubik"/>
                  <a:hlinkClick r:id="rId3" tooltip="https://portelem.telem-hit.net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  <a:rtl/>
                </a:rPr>
                <a:t>פורטל"מ</a:t>
              </a:r>
              <a:endParaRPr lang="he-IL" sz="2400" u="sng" spc="-48" dirty="0">
                <a:solidFill>
                  <a:schemeClr val="bg1"/>
                </a:solidFill>
                <a:latin typeface="Rubik"/>
                <a:ea typeface="Rubik"/>
                <a:cs typeface="Rubik"/>
                <a:sym typeface="Rubik"/>
                <a:hlinkClick r:id="rId3" tooltip="https://portelem.telem-hit.ne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  <a:rtl/>
              </a:endParaRPr>
            </a:p>
            <a:p>
              <a:pPr algn="r" rtl="1">
                <a:lnSpc>
                  <a:spcPts val="2400"/>
                </a:lnSpc>
              </a:pPr>
              <a:endParaRPr lang="he-IL" sz="2400" u="sng" spc="-48" dirty="0">
                <a:solidFill>
                  <a:schemeClr val="bg1"/>
                </a:solidFill>
                <a:latin typeface="Rubik"/>
                <a:ea typeface="Rubik"/>
                <a:cs typeface="Rubik"/>
                <a:sym typeface="Rubik"/>
                <a:hlinkClick r:id="rId3" tooltip="https://portelem.telem-hit.ne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  <a:rtl/>
              </a:endParaRPr>
            </a:p>
            <a:p>
              <a:pPr marL="518160" lvl="1" indent="-259080" algn="r" rtl="1">
                <a:lnSpc>
                  <a:spcPts val="2400"/>
                </a:lnSpc>
                <a:buFont typeface="Arial"/>
                <a:buChar char="•"/>
              </a:pPr>
              <a:r>
                <a:rPr lang="en-US" sz="2400" u="sng" spc="-48" dirty="0">
                  <a:solidFill>
                    <a:schemeClr val="bg1"/>
                  </a:solidFill>
                  <a:latin typeface="Rubik"/>
                  <a:ea typeface="Rubik"/>
                  <a:cs typeface="Rubik"/>
                  <a:sym typeface="Rubik"/>
                  <a:hlinkClick r:id="rId4" tooltip="https://app.genially.com/?from=login-tru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GENIALLY</a:t>
              </a:r>
            </a:p>
            <a:p>
              <a:pPr algn="r" rtl="1">
                <a:lnSpc>
                  <a:spcPts val="2400"/>
                </a:lnSpc>
              </a:pPr>
              <a:endParaRPr lang="en-US" sz="2400" u="sng" spc="-48" dirty="0">
                <a:solidFill>
                  <a:schemeClr val="bg1"/>
                </a:solidFill>
                <a:latin typeface="Rubik"/>
                <a:ea typeface="Rubik"/>
                <a:cs typeface="Rubik"/>
                <a:sym typeface="Rubik"/>
                <a:hlinkClick r:id="rId4" tooltip="https://app.genially.com/?from=login-tru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endParaRPr>
            </a:p>
            <a:p>
              <a:pPr marL="518160" lvl="1" indent="-259080" algn="r" rtl="1">
                <a:lnSpc>
                  <a:spcPts val="2400"/>
                </a:lnSpc>
                <a:buFont typeface="Arial"/>
                <a:buChar char="•"/>
              </a:pPr>
              <a:r>
                <a:rPr lang="en-US" sz="2400" u="sng" spc="-48" dirty="0">
                  <a:solidFill>
                    <a:schemeClr val="bg1"/>
                  </a:solidFill>
                  <a:latin typeface="Rubik"/>
                  <a:ea typeface="Rubik"/>
                  <a:cs typeface="Rubik"/>
                  <a:sym typeface="Rubik"/>
                  <a:hlinkClick r:id="rId5" tooltip="https://wordwall.net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WORDWALL</a:t>
              </a:r>
            </a:p>
            <a:p>
              <a:pPr algn="r" rtl="1">
                <a:lnSpc>
                  <a:spcPts val="2400"/>
                </a:lnSpc>
              </a:pPr>
              <a:endParaRPr lang="en-US" sz="2400" u="sng" spc="-48" dirty="0">
                <a:solidFill>
                  <a:schemeClr val="bg1"/>
                </a:solidFill>
                <a:latin typeface="Rubik"/>
                <a:ea typeface="Rubik"/>
                <a:cs typeface="Rubik"/>
                <a:sym typeface="Rubik"/>
                <a:hlinkClick r:id="rId5" tooltip="https://wordwall.ne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endParaRPr>
            </a:p>
            <a:p>
              <a:pPr marL="518160" lvl="1" indent="-259080" algn="r" rtl="1">
                <a:lnSpc>
                  <a:spcPts val="2400"/>
                </a:lnSpc>
                <a:buFont typeface="Arial"/>
                <a:buChar char="•"/>
              </a:pPr>
              <a:r>
                <a:rPr lang="en-US" sz="2400" u="sng" spc="-48" dirty="0">
                  <a:solidFill>
                    <a:schemeClr val="bg1"/>
                  </a:solidFill>
                  <a:latin typeface="Rubik"/>
                  <a:ea typeface="Rubik"/>
                  <a:cs typeface="Rubik"/>
                  <a:sym typeface="Rubik"/>
                  <a:hlinkClick r:id="rId6" tooltip="https://www.educaplay.com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EDUCAPLAY</a:t>
              </a:r>
            </a:p>
            <a:p>
              <a:pPr algn="l">
                <a:lnSpc>
                  <a:spcPts val="2400"/>
                </a:lnSpc>
              </a:pPr>
              <a:endParaRPr lang="en-US" sz="2400" u="sng" spc="-48" dirty="0">
                <a:solidFill>
                  <a:schemeClr val="bg1"/>
                </a:solidFill>
                <a:latin typeface="Rubik"/>
                <a:ea typeface="Rubik"/>
                <a:cs typeface="Rubik"/>
                <a:sym typeface="Rubik"/>
                <a:hlinkClick r:id="rId6" tooltip="https://www.educaplay.co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583340" y="3314167"/>
            <a:ext cx="3616600" cy="2768739"/>
            <a:chOff x="0" y="0"/>
            <a:chExt cx="4822133" cy="369165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4822133" cy="3691652"/>
              <a:chOff x="0" y="0"/>
              <a:chExt cx="1285902" cy="984441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285902" cy="984441"/>
              </a:xfrm>
              <a:custGeom>
                <a:avLst/>
                <a:gdLst/>
                <a:ahLst/>
                <a:cxnLst/>
                <a:rect l="l" t="t" r="r" b="b"/>
                <a:pathLst>
                  <a:path w="1285902" h="984441">
                    <a:moveTo>
                      <a:pt x="0" y="0"/>
                    </a:moveTo>
                    <a:lnTo>
                      <a:pt x="1285902" y="0"/>
                    </a:lnTo>
                    <a:lnTo>
                      <a:pt x="1285902" y="984441"/>
                    </a:lnTo>
                    <a:lnTo>
                      <a:pt x="0" y="984441"/>
                    </a:lnTo>
                    <a:close/>
                  </a:path>
                </a:pathLst>
              </a:custGeom>
              <a:solidFill>
                <a:srgbClr val="264F73"/>
              </a:solidFill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1285902" cy="102254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540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158014" y="387747"/>
              <a:ext cx="4506106" cy="33039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18160" lvl="1" indent="-259080" algn="r" rtl="1">
                <a:lnSpc>
                  <a:spcPts val="2400"/>
                </a:lnSpc>
                <a:buFont typeface="Arial"/>
                <a:buChar char="•"/>
              </a:pPr>
              <a:r>
                <a:rPr lang="en-US" sz="2400" u="sng" spc="-48" dirty="0">
                  <a:solidFill>
                    <a:schemeClr val="bg1"/>
                  </a:solidFill>
                  <a:latin typeface="Rubik"/>
                  <a:ea typeface="Rubik"/>
                  <a:cs typeface="Rubik"/>
                  <a:sym typeface="Rubik"/>
                  <a:hlinkClick r:id="rId7" tooltip="https://antigravity.googl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ANTIGRAVITY</a:t>
              </a:r>
            </a:p>
            <a:p>
              <a:pPr algn="r" rtl="1">
                <a:lnSpc>
                  <a:spcPts val="2400"/>
                </a:lnSpc>
              </a:pPr>
              <a:endParaRPr lang="en-US" sz="2400" u="sng" spc="-48" dirty="0">
                <a:solidFill>
                  <a:schemeClr val="bg1"/>
                </a:solidFill>
                <a:latin typeface="Rubik"/>
                <a:ea typeface="Rubik"/>
                <a:cs typeface="Rubik"/>
                <a:sym typeface="Rubik"/>
                <a:hlinkClick r:id="rId7" tooltip="https://antigravity.goog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endParaRPr>
            </a:p>
            <a:p>
              <a:pPr marL="518160" lvl="1" indent="-259080" algn="r" rtl="1">
                <a:lnSpc>
                  <a:spcPts val="2400"/>
                </a:lnSpc>
                <a:buFont typeface="Arial"/>
                <a:buChar char="•"/>
              </a:pPr>
              <a:r>
                <a:rPr lang="en-US" sz="2400" u="sng" spc="-48" dirty="0">
                  <a:solidFill>
                    <a:schemeClr val="bg1"/>
                  </a:solidFill>
                  <a:latin typeface="Rubik"/>
                  <a:ea typeface="Rubik"/>
                  <a:cs typeface="Rubik"/>
                  <a:sym typeface="Rubik"/>
                  <a:hlinkClick r:id="rId8" tooltip="https://gemini.google.com/ap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GEMINI</a:t>
              </a:r>
            </a:p>
            <a:p>
              <a:pPr algn="r" rtl="1">
                <a:lnSpc>
                  <a:spcPts val="2400"/>
                </a:lnSpc>
              </a:pPr>
              <a:endParaRPr lang="en-US" sz="2400" u="sng" spc="-48" dirty="0">
                <a:solidFill>
                  <a:schemeClr val="bg1"/>
                </a:solidFill>
                <a:latin typeface="Rubik"/>
                <a:ea typeface="Rubik"/>
                <a:cs typeface="Rubik"/>
                <a:sym typeface="Rubik"/>
                <a:hlinkClick r:id="rId8" tooltip="https://gemini.google.com/ap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endParaRPr>
            </a:p>
            <a:p>
              <a:pPr marL="518160" lvl="1" indent="-259080" algn="r" rtl="1">
                <a:lnSpc>
                  <a:spcPts val="2400"/>
                </a:lnSpc>
                <a:buFont typeface="Arial"/>
                <a:buChar char="•"/>
              </a:pPr>
              <a:r>
                <a:rPr lang="en-US" sz="2400" u="sng" spc="-48" dirty="0">
                  <a:solidFill>
                    <a:schemeClr val="bg1"/>
                  </a:solidFill>
                  <a:latin typeface="Rubik"/>
                  <a:ea typeface="Rubik"/>
                  <a:cs typeface="Rubik"/>
                  <a:sym typeface="Rubik"/>
                  <a:hlinkClick r:id="rId9" tooltip="https://claude.com/product/claude-co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CLAUDE CODE</a:t>
              </a:r>
            </a:p>
            <a:p>
              <a:pPr algn="r" rtl="1">
                <a:lnSpc>
                  <a:spcPts val="2400"/>
                </a:lnSpc>
              </a:pPr>
              <a:endParaRPr lang="en-US" sz="2400" u="sng" spc="-48" dirty="0">
                <a:solidFill>
                  <a:schemeClr val="bg1"/>
                </a:solidFill>
                <a:latin typeface="Rubik"/>
                <a:ea typeface="Rubik"/>
                <a:cs typeface="Rubik"/>
                <a:sym typeface="Rubik"/>
                <a:hlinkClick r:id="rId9" tooltip="https://claude.com/product/claude-cod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endParaRPr>
            </a:p>
            <a:p>
              <a:pPr marL="518160" lvl="1" indent="-259080" algn="r" rtl="1">
                <a:lnSpc>
                  <a:spcPts val="2400"/>
                </a:lnSpc>
                <a:buFont typeface="Arial"/>
                <a:buChar char="•"/>
              </a:pPr>
              <a:r>
                <a:rPr lang="en-US" sz="2400" u="sng" spc="-48" dirty="0">
                  <a:solidFill>
                    <a:schemeClr val="bg1"/>
                  </a:solidFill>
                  <a:latin typeface="Rubik"/>
                  <a:ea typeface="Rubik"/>
                  <a:cs typeface="Rubik"/>
                  <a:sym typeface="Rubik"/>
                  <a:hlinkClick r:id="rId10" tooltip="https://rosebud.ai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ROSEBUD</a:t>
              </a:r>
            </a:p>
            <a:p>
              <a:pPr algn="r" rtl="1">
                <a:lnSpc>
                  <a:spcPts val="2400"/>
                </a:lnSpc>
              </a:pPr>
              <a:endParaRPr lang="en-US" sz="2400" u="sng" spc="-48" dirty="0">
                <a:solidFill>
                  <a:schemeClr val="bg1"/>
                </a:solidFill>
                <a:latin typeface="Rubik"/>
                <a:ea typeface="Rubik"/>
                <a:cs typeface="Rubik"/>
                <a:sym typeface="Rubik"/>
                <a:hlinkClick r:id="rId10" tooltip="https://rosebud.ai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583340" y="7063167"/>
            <a:ext cx="3616600" cy="2159139"/>
            <a:chOff x="0" y="0"/>
            <a:chExt cx="4822133" cy="287885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20" name="Group 20"/>
            <p:cNvGrpSpPr/>
            <p:nvPr/>
          </p:nvGrpSpPr>
          <p:grpSpPr>
            <a:xfrm>
              <a:off x="0" y="0"/>
              <a:ext cx="4822133" cy="2878852"/>
              <a:chOff x="0" y="0"/>
              <a:chExt cx="1285902" cy="767694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1285902" cy="767694"/>
              </a:xfrm>
              <a:custGeom>
                <a:avLst/>
                <a:gdLst/>
                <a:ahLst/>
                <a:cxnLst/>
                <a:rect l="l" t="t" r="r" b="b"/>
                <a:pathLst>
                  <a:path w="1285902" h="767694">
                    <a:moveTo>
                      <a:pt x="0" y="0"/>
                    </a:moveTo>
                    <a:lnTo>
                      <a:pt x="1285902" y="0"/>
                    </a:lnTo>
                    <a:lnTo>
                      <a:pt x="1285902" y="767694"/>
                    </a:lnTo>
                    <a:lnTo>
                      <a:pt x="0" y="767694"/>
                    </a:lnTo>
                    <a:close/>
                  </a:path>
                </a:pathLst>
              </a:custGeom>
              <a:solidFill>
                <a:srgbClr val="264F73"/>
              </a:solidFill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1285902" cy="80579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540"/>
                  </a:lnSpc>
                </a:pPr>
                <a:endParaRPr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158014" y="387747"/>
              <a:ext cx="4506106" cy="2491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18160" lvl="1" indent="-259080" algn="r" rtl="1">
                <a:lnSpc>
                  <a:spcPts val="2400"/>
                </a:lnSpc>
                <a:buFont typeface="Arial"/>
                <a:buChar char="•"/>
              </a:pPr>
              <a:r>
                <a:rPr lang="en-US" sz="2400" u="sng" spc="-48" dirty="0">
                  <a:solidFill>
                    <a:schemeClr val="bg1"/>
                  </a:solidFill>
                  <a:latin typeface="Rubik"/>
                  <a:ea typeface="Rubik"/>
                  <a:cs typeface="Rubik"/>
                  <a:sym typeface="Rubik"/>
                  <a:hlinkClick r:id="rId11" tooltip="https://www.flippity.net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FLIPPITY</a:t>
              </a:r>
            </a:p>
            <a:p>
              <a:pPr algn="r" rtl="1">
                <a:lnSpc>
                  <a:spcPts val="2400"/>
                </a:lnSpc>
              </a:pPr>
              <a:endParaRPr lang="en-US" sz="2400" u="sng" spc="-48" dirty="0">
                <a:solidFill>
                  <a:schemeClr val="bg1"/>
                </a:solidFill>
                <a:latin typeface="Rubik"/>
                <a:ea typeface="Rubik"/>
                <a:cs typeface="Rubik"/>
                <a:sym typeface="Rubik"/>
                <a:hlinkClick r:id="rId11" tooltip="https://www.flippity.ne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endParaRPr>
            </a:p>
            <a:p>
              <a:pPr algn="r" rtl="1">
                <a:lnSpc>
                  <a:spcPts val="2400"/>
                </a:lnSpc>
              </a:pPr>
              <a:endParaRPr lang="en-US" sz="2400" u="sng" spc="-48" dirty="0">
                <a:solidFill>
                  <a:schemeClr val="bg1"/>
                </a:solidFill>
                <a:latin typeface="Rubik"/>
                <a:ea typeface="Rubik"/>
                <a:cs typeface="Rubik"/>
                <a:sym typeface="Rubik"/>
                <a:hlinkClick r:id="rId11" tooltip="https://www.flippity.ne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endParaRPr>
            </a:p>
            <a:p>
              <a:pPr marL="518160" lvl="1" indent="-259080" algn="r" rtl="1">
                <a:lnSpc>
                  <a:spcPts val="2400"/>
                </a:lnSpc>
                <a:buFont typeface="Arial"/>
                <a:buChar char="•"/>
              </a:pPr>
              <a:r>
                <a:rPr lang="en-US" sz="2400" u="sng" spc="-48" dirty="0">
                  <a:solidFill>
                    <a:schemeClr val="bg1"/>
                  </a:solidFill>
                  <a:latin typeface="Rubik"/>
                  <a:ea typeface="Rubik"/>
                  <a:cs typeface="Rubik"/>
                  <a:sym typeface="Rubik"/>
                  <a:hlinkClick r:id="rId12" tooltip="https://www.blooket.com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BLOOKET</a:t>
              </a:r>
            </a:p>
            <a:p>
              <a:pPr algn="r" rtl="1">
                <a:lnSpc>
                  <a:spcPts val="2400"/>
                </a:lnSpc>
              </a:pPr>
              <a:endParaRPr lang="en-US" sz="2400" u="sng" spc="-48" dirty="0">
                <a:solidFill>
                  <a:schemeClr val="bg1"/>
                </a:solidFill>
                <a:latin typeface="Rubik"/>
                <a:ea typeface="Rubik"/>
                <a:cs typeface="Rubik"/>
                <a:sym typeface="Rubik"/>
                <a:hlinkClick r:id="rId12" tooltip="https://www.blooket.co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endParaRPr>
            </a:p>
            <a:p>
              <a:pPr algn="r" rtl="1">
                <a:lnSpc>
                  <a:spcPts val="2400"/>
                </a:lnSpc>
              </a:pPr>
              <a:endParaRPr lang="en-US" sz="2400" u="sng" spc="-48" dirty="0">
                <a:solidFill>
                  <a:schemeClr val="bg1"/>
                </a:solidFill>
                <a:latin typeface="Rubik"/>
                <a:ea typeface="Rubik"/>
                <a:cs typeface="Rubik"/>
                <a:sym typeface="Rubik"/>
                <a:hlinkClick r:id="rId12" tooltip="https://www.blooket.co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endParaRPr>
            </a:p>
          </p:txBody>
        </p:sp>
      </p:grpSp>
      <p:sp>
        <p:nvSpPr>
          <p:cNvPr id="24" name="Freeform 24"/>
          <p:cNvSpPr/>
          <p:nvPr/>
        </p:nvSpPr>
        <p:spPr>
          <a:xfrm>
            <a:off x="15300888" y="274777"/>
            <a:ext cx="382448" cy="382448"/>
          </a:xfrm>
          <a:custGeom>
            <a:avLst/>
            <a:gdLst/>
            <a:ahLst/>
            <a:cxnLst/>
            <a:rect l="l" t="t" r="r" b="b"/>
            <a:pathLst>
              <a:path w="382448" h="382448">
                <a:moveTo>
                  <a:pt x="0" y="0"/>
                </a:moveTo>
                <a:lnTo>
                  <a:pt x="382448" y="0"/>
                </a:lnTo>
                <a:lnTo>
                  <a:pt x="382448" y="382448"/>
                </a:lnTo>
                <a:lnTo>
                  <a:pt x="0" y="3824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25" name="Freeform 25"/>
          <p:cNvSpPr/>
          <p:nvPr/>
        </p:nvSpPr>
        <p:spPr>
          <a:xfrm>
            <a:off x="13851323" y="274777"/>
            <a:ext cx="382448" cy="382448"/>
          </a:xfrm>
          <a:custGeom>
            <a:avLst/>
            <a:gdLst/>
            <a:ahLst/>
            <a:cxnLst/>
            <a:rect l="l" t="t" r="r" b="b"/>
            <a:pathLst>
              <a:path w="382448" h="382448">
                <a:moveTo>
                  <a:pt x="0" y="0"/>
                </a:moveTo>
                <a:lnTo>
                  <a:pt x="382448" y="0"/>
                </a:lnTo>
                <a:lnTo>
                  <a:pt x="382448" y="382448"/>
                </a:lnTo>
                <a:lnTo>
                  <a:pt x="0" y="3824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26" name="Freeform 26"/>
          <p:cNvSpPr/>
          <p:nvPr/>
        </p:nvSpPr>
        <p:spPr>
          <a:xfrm>
            <a:off x="16876852" y="274777"/>
            <a:ext cx="382448" cy="382448"/>
          </a:xfrm>
          <a:custGeom>
            <a:avLst/>
            <a:gdLst/>
            <a:ahLst/>
            <a:cxnLst/>
            <a:rect l="l" t="t" r="r" b="b"/>
            <a:pathLst>
              <a:path w="382448" h="382448">
                <a:moveTo>
                  <a:pt x="0" y="0"/>
                </a:moveTo>
                <a:lnTo>
                  <a:pt x="382448" y="0"/>
                </a:lnTo>
                <a:lnTo>
                  <a:pt x="382448" y="382448"/>
                </a:lnTo>
                <a:lnTo>
                  <a:pt x="0" y="3824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27" name="AutoShape 27"/>
          <p:cNvSpPr/>
          <p:nvPr/>
        </p:nvSpPr>
        <p:spPr>
          <a:xfrm flipH="1" flipV="1">
            <a:off x="15683336" y="466001"/>
            <a:ext cx="1193516" cy="0"/>
          </a:xfrm>
          <a:prstGeom prst="line">
            <a:avLst/>
          </a:prstGeom>
          <a:ln w="47625" cap="rnd">
            <a:solidFill>
              <a:srgbClr val="F2C762">
                <a:alpha val="80000"/>
              </a:srgbClr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he-IL"/>
          </a:p>
        </p:txBody>
      </p:sp>
      <p:sp>
        <p:nvSpPr>
          <p:cNvPr id="28" name="AutoShape 28"/>
          <p:cNvSpPr/>
          <p:nvPr/>
        </p:nvSpPr>
        <p:spPr>
          <a:xfrm flipH="1">
            <a:off x="14233771" y="466001"/>
            <a:ext cx="1067117" cy="0"/>
          </a:xfrm>
          <a:prstGeom prst="line">
            <a:avLst/>
          </a:prstGeom>
          <a:ln w="47625" cap="rnd">
            <a:solidFill>
              <a:srgbClr val="F2C762">
                <a:alpha val="80000"/>
              </a:srgbClr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he-IL"/>
          </a:p>
        </p:txBody>
      </p:sp>
      <p:sp>
        <p:nvSpPr>
          <p:cNvPr id="29" name="AutoShape 29"/>
          <p:cNvSpPr/>
          <p:nvPr/>
        </p:nvSpPr>
        <p:spPr>
          <a:xfrm flipH="1">
            <a:off x="12784206" y="466001"/>
            <a:ext cx="1067117" cy="0"/>
          </a:xfrm>
          <a:prstGeom prst="line">
            <a:avLst/>
          </a:prstGeom>
          <a:ln w="47625" cap="rnd">
            <a:solidFill>
              <a:srgbClr val="F2C762">
                <a:alpha val="80000"/>
              </a:srgbClr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he-IL"/>
          </a:p>
        </p:txBody>
      </p:sp>
      <p:sp>
        <p:nvSpPr>
          <p:cNvPr id="30" name="Freeform 30"/>
          <p:cNvSpPr/>
          <p:nvPr/>
        </p:nvSpPr>
        <p:spPr>
          <a:xfrm>
            <a:off x="12401758" y="274777"/>
            <a:ext cx="382448" cy="382448"/>
          </a:xfrm>
          <a:custGeom>
            <a:avLst/>
            <a:gdLst/>
            <a:ahLst/>
            <a:cxnLst/>
            <a:rect l="l" t="t" r="r" b="b"/>
            <a:pathLst>
              <a:path w="382448" h="382448">
                <a:moveTo>
                  <a:pt x="0" y="0"/>
                </a:moveTo>
                <a:lnTo>
                  <a:pt x="382448" y="0"/>
                </a:lnTo>
                <a:lnTo>
                  <a:pt x="382448" y="382448"/>
                </a:lnTo>
                <a:lnTo>
                  <a:pt x="0" y="3824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1" name="TextBox 31"/>
          <p:cNvSpPr txBox="1"/>
          <p:nvPr/>
        </p:nvSpPr>
        <p:spPr>
          <a:xfrm>
            <a:off x="15164938" y="770572"/>
            <a:ext cx="654348" cy="163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1200"/>
              </a:lnSpc>
              <a:spcBef>
                <a:spcPct val="0"/>
              </a:spcBef>
            </a:pPr>
            <a:r>
              <a:rPr lang="he-IL" sz="1200" spc="-24">
                <a:solidFill>
                  <a:srgbClr val="264F73"/>
                </a:solidFill>
                <a:latin typeface="Rubik"/>
                <a:ea typeface="Rubik"/>
                <a:cs typeface="Rubik"/>
                <a:sym typeface="Rubik"/>
                <a:rtl/>
              </a:rPr>
              <a:t>עזרי עבודה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6751419" y="770572"/>
            <a:ext cx="633313" cy="163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1200"/>
              </a:lnSpc>
              <a:spcBef>
                <a:spcPct val="0"/>
              </a:spcBef>
            </a:pPr>
            <a:r>
              <a:rPr lang="he-IL" sz="1200" spc="-24">
                <a:solidFill>
                  <a:srgbClr val="264F73"/>
                </a:solidFill>
                <a:latin typeface="Rubik"/>
                <a:ea typeface="Rubik"/>
                <a:cs typeface="Rubik"/>
                <a:sym typeface="Rubik"/>
                <a:rtl/>
              </a:rPr>
              <a:t>תוכן לימודי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345679" y="712470"/>
            <a:ext cx="494605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1200"/>
              </a:lnSpc>
            </a:pPr>
            <a:r>
              <a:rPr lang="he-IL" sz="1200" spc="-24">
                <a:solidFill>
                  <a:srgbClr val="264F73"/>
                </a:solidFill>
                <a:latin typeface="Rubik"/>
                <a:ea typeface="Rubik"/>
                <a:cs typeface="Rubik"/>
                <a:sym typeface="Rubik"/>
                <a:rtl/>
              </a:rPr>
              <a:t>השראות</a:t>
            </a:r>
          </a:p>
          <a:p>
            <a:pPr algn="r" rtl="1">
              <a:lnSpc>
                <a:spcPts val="1200"/>
              </a:lnSpc>
              <a:spcBef>
                <a:spcPct val="0"/>
              </a:spcBef>
            </a:pPr>
            <a:endParaRPr lang="he-IL" sz="1200" spc="-24">
              <a:solidFill>
                <a:srgbClr val="264F73"/>
              </a:solidFill>
              <a:latin typeface="Rubik"/>
              <a:ea typeface="Rubik"/>
              <a:cs typeface="Rubik"/>
              <a:sym typeface="Rubik"/>
              <a:rtl/>
            </a:endParaRPr>
          </a:p>
        </p:txBody>
      </p:sp>
      <p:grpSp>
        <p:nvGrpSpPr>
          <p:cNvPr id="34" name="Group 34"/>
          <p:cNvGrpSpPr/>
          <p:nvPr/>
        </p:nvGrpSpPr>
        <p:grpSpPr>
          <a:xfrm>
            <a:off x="12639411" y="3314167"/>
            <a:ext cx="3616600" cy="4217174"/>
            <a:chOff x="0" y="0"/>
            <a:chExt cx="4822133" cy="562289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35" name="Group 35"/>
            <p:cNvGrpSpPr/>
            <p:nvPr/>
          </p:nvGrpSpPr>
          <p:grpSpPr>
            <a:xfrm>
              <a:off x="0" y="0"/>
              <a:ext cx="4822133" cy="5622899"/>
              <a:chOff x="0" y="0"/>
              <a:chExt cx="1285902" cy="149944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1285902" cy="1499440"/>
              </a:xfrm>
              <a:custGeom>
                <a:avLst/>
                <a:gdLst/>
                <a:ahLst/>
                <a:cxnLst/>
                <a:rect l="l" t="t" r="r" b="b"/>
                <a:pathLst>
                  <a:path w="1285902" h="1499440">
                    <a:moveTo>
                      <a:pt x="0" y="0"/>
                    </a:moveTo>
                    <a:lnTo>
                      <a:pt x="1285902" y="0"/>
                    </a:lnTo>
                    <a:lnTo>
                      <a:pt x="1285902" y="1499440"/>
                    </a:lnTo>
                    <a:lnTo>
                      <a:pt x="0" y="1499440"/>
                    </a:lnTo>
                    <a:close/>
                  </a:path>
                </a:pathLst>
              </a:custGeom>
              <a:solidFill>
                <a:srgbClr val="264F73"/>
              </a:solidFill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0" y="-38100"/>
                <a:ext cx="1285902" cy="15375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540"/>
                  </a:lnSpc>
                </a:pPr>
                <a:endParaRPr/>
              </a:p>
            </p:txBody>
          </p:sp>
        </p:grpSp>
        <p:sp>
          <p:nvSpPr>
            <p:cNvPr id="38" name="TextBox 38"/>
            <p:cNvSpPr txBox="1"/>
            <p:nvPr/>
          </p:nvSpPr>
          <p:spPr>
            <a:xfrm>
              <a:off x="109827" y="356534"/>
              <a:ext cx="4535620" cy="4523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18160" lvl="1" indent="-259080" algn="r" rtl="1">
                <a:lnSpc>
                  <a:spcPts val="2400"/>
                </a:lnSpc>
                <a:buFont typeface="Arial"/>
                <a:buChar char="•"/>
              </a:pPr>
              <a:r>
                <a:rPr lang="he-IL" sz="2400" spc="-48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  <a:rtl/>
                </a:rPr>
                <a:t>קלפים:</a:t>
              </a:r>
            </a:p>
            <a:p>
              <a:pPr algn="r" rtl="1">
                <a:lnSpc>
                  <a:spcPts val="2400"/>
                </a:lnSpc>
              </a:pPr>
              <a:r>
                <a:rPr lang="he-IL" sz="2400" spc="-48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  <a:rtl/>
                </a:rPr>
                <a:t>       מלחמה, טאקי</a:t>
              </a:r>
            </a:p>
            <a:p>
              <a:pPr algn="r" rtl="1">
                <a:lnSpc>
                  <a:spcPts val="2400"/>
                </a:lnSpc>
              </a:pPr>
              <a:endParaRPr lang="he-IL" sz="2400" spc="-48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  <a:rtl/>
              </a:endParaRPr>
            </a:p>
            <a:p>
              <a:pPr marL="518160" lvl="1" indent="-259080" algn="r" rtl="1">
                <a:lnSpc>
                  <a:spcPts val="2400"/>
                </a:lnSpc>
                <a:buFont typeface="Arial"/>
                <a:buChar char="•"/>
              </a:pPr>
              <a:r>
                <a:rPr lang="he-IL" sz="2400" spc="-48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  <a:rtl/>
                </a:rPr>
                <a:t>קלאס</a:t>
              </a:r>
            </a:p>
            <a:p>
              <a:pPr algn="r" rtl="1">
                <a:lnSpc>
                  <a:spcPts val="2400"/>
                </a:lnSpc>
              </a:pPr>
              <a:endParaRPr lang="he-IL" sz="2400" spc="-48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  <a:rtl/>
              </a:endParaRPr>
            </a:p>
            <a:p>
              <a:pPr marL="518160" lvl="1" indent="-259080" algn="r" rtl="1">
                <a:lnSpc>
                  <a:spcPts val="2400"/>
                </a:lnSpc>
                <a:buFont typeface="Arial"/>
                <a:buChar char="•"/>
              </a:pPr>
              <a:r>
                <a:rPr lang="he-IL" sz="2400" spc="-48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  <a:rtl/>
                </a:rPr>
                <a:t>משחקי לוח:</a:t>
              </a:r>
            </a:p>
            <a:p>
              <a:pPr algn="r" rtl="1">
                <a:lnSpc>
                  <a:spcPts val="2400"/>
                </a:lnSpc>
              </a:pPr>
              <a:r>
                <a:rPr lang="he-IL" sz="2400" spc="-48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  <a:rtl/>
                </a:rPr>
                <a:t>       איקס עיגול, איש תלוי</a:t>
              </a:r>
            </a:p>
            <a:p>
              <a:pPr algn="r" rtl="1">
                <a:lnSpc>
                  <a:spcPts val="2400"/>
                </a:lnSpc>
              </a:pPr>
              <a:endParaRPr lang="he-IL" sz="2400" spc="-48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  <a:rtl/>
              </a:endParaRPr>
            </a:p>
            <a:p>
              <a:pPr marL="518160" lvl="1" indent="-259080" algn="r" rtl="1">
                <a:lnSpc>
                  <a:spcPts val="2400"/>
                </a:lnSpc>
                <a:buFont typeface="Arial"/>
                <a:buChar char="•"/>
              </a:pPr>
              <a:r>
                <a:rPr lang="he-IL" sz="2400" spc="-48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  <a:rtl/>
                </a:rPr>
                <a:t>משחקי קופסה: סולמות וחבלים, </a:t>
              </a:r>
            </a:p>
            <a:p>
              <a:pPr algn="r" rtl="1">
                <a:lnSpc>
                  <a:spcPts val="2400"/>
                </a:lnSpc>
              </a:pPr>
              <a:endParaRPr lang="he-IL" sz="2400" spc="-48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  <a:rtl/>
              </a:endParaRP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4870311" y="8896477"/>
            <a:ext cx="2768303" cy="641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400"/>
              </a:lnSpc>
            </a:pPr>
            <a:r>
              <a:rPr lang="he-IL" sz="2400" i="1" spc="-48">
                <a:solidFill>
                  <a:srgbClr val="65A0B3"/>
                </a:solidFill>
                <a:latin typeface="Rubik Italics"/>
                <a:ea typeface="Rubik Italics"/>
                <a:cs typeface="Rubik Italics"/>
                <a:sym typeface="Rubik Italics"/>
                <a:rtl/>
              </a:rPr>
              <a:t>חוקי משחק המלחמה</a:t>
            </a:r>
          </a:p>
          <a:p>
            <a:pPr algn="r" rtl="1">
              <a:lnSpc>
                <a:spcPts val="2400"/>
              </a:lnSpc>
              <a:spcBef>
                <a:spcPct val="0"/>
              </a:spcBef>
            </a:pPr>
            <a:r>
              <a:rPr lang="he-IL" sz="2400" i="1" spc="-48">
                <a:solidFill>
                  <a:srgbClr val="65A0B3"/>
                </a:solidFill>
                <a:latin typeface="Rubik Italics"/>
                <a:ea typeface="Rubik Italics"/>
                <a:cs typeface="Rubik Italics"/>
                <a:sym typeface="Rubik Italics"/>
                <a:rtl/>
              </a:rPr>
              <a:t> שהמרנו גם לשימושכם!</a:t>
            </a:r>
          </a:p>
        </p:txBody>
      </p:sp>
      <p:sp>
        <p:nvSpPr>
          <p:cNvPr id="40" name="Freeform 40"/>
          <p:cNvSpPr/>
          <p:nvPr/>
        </p:nvSpPr>
        <p:spPr>
          <a:xfrm>
            <a:off x="17024648" y="8479539"/>
            <a:ext cx="1046353" cy="469908"/>
          </a:xfrm>
          <a:custGeom>
            <a:avLst/>
            <a:gdLst/>
            <a:ahLst/>
            <a:cxnLst/>
            <a:rect l="l" t="t" r="r" b="b"/>
            <a:pathLst>
              <a:path w="1046353" h="469908">
                <a:moveTo>
                  <a:pt x="0" y="0"/>
                </a:moveTo>
                <a:lnTo>
                  <a:pt x="1046353" y="0"/>
                </a:lnTo>
                <a:lnTo>
                  <a:pt x="1046353" y="469908"/>
                </a:lnTo>
                <a:lnTo>
                  <a:pt x="0" y="4699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128" b="-10128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Freeform 3"/>
          <p:cNvSpPr/>
          <p:nvPr/>
        </p:nvSpPr>
        <p:spPr>
          <a:xfrm>
            <a:off x="0" y="-11365"/>
            <a:ext cx="18288000" cy="10298365"/>
          </a:xfrm>
          <a:custGeom>
            <a:avLst/>
            <a:gdLst/>
            <a:ahLst/>
            <a:cxnLst/>
            <a:rect l="l" t="t" r="r" b="b"/>
            <a:pathLst>
              <a:path w="18288000" h="10298365">
                <a:moveTo>
                  <a:pt x="0" y="0"/>
                </a:moveTo>
                <a:lnTo>
                  <a:pt x="18288000" y="0"/>
                </a:lnTo>
                <a:lnTo>
                  <a:pt x="18288000" y="10298365"/>
                </a:lnTo>
                <a:lnTo>
                  <a:pt x="0" y="10298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5052" b="-12529"/>
            </a:stretch>
          </a:blipFill>
        </p:spPr>
        <p:txBody>
          <a:bodyPr/>
          <a:lstStyle/>
          <a:p>
            <a:endParaRPr lang="he-IL"/>
          </a:p>
        </p:txBody>
      </p:sp>
      <p:grpSp>
        <p:nvGrpSpPr>
          <p:cNvPr id="4" name="Group 4"/>
          <p:cNvGrpSpPr/>
          <p:nvPr/>
        </p:nvGrpSpPr>
        <p:grpSpPr>
          <a:xfrm>
            <a:off x="14338347" y="1372749"/>
            <a:ext cx="1644228" cy="2059641"/>
            <a:chOff x="0" y="0"/>
            <a:chExt cx="2192304" cy="2746188"/>
          </a:xfrm>
        </p:grpSpPr>
        <p:sp>
          <p:nvSpPr>
            <p:cNvPr id="5" name="Freeform 5"/>
            <p:cNvSpPr/>
            <p:nvPr/>
          </p:nvSpPr>
          <p:spPr>
            <a:xfrm rot="-888524">
              <a:off x="170975" y="98122"/>
              <a:ext cx="957834" cy="1462342"/>
            </a:xfrm>
            <a:custGeom>
              <a:avLst/>
              <a:gdLst/>
              <a:ahLst/>
              <a:cxnLst/>
              <a:rect l="l" t="t" r="r" b="b"/>
              <a:pathLst>
                <a:path w="957834" h="1462342">
                  <a:moveTo>
                    <a:pt x="0" y="0"/>
                  </a:moveTo>
                  <a:lnTo>
                    <a:pt x="957834" y="0"/>
                  </a:lnTo>
                  <a:lnTo>
                    <a:pt x="957834" y="1462341"/>
                  </a:lnTo>
                  <a:lnTo>
                    <a:pt x="0" y="14623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6" name="Freeform 6"/>
            <p:cNvSpPr/>
            <p:nvPr/>
          </p:nvSpPr>
          <p:spPr>
            <a:xfrm rot="-82712">
              <a:off x="471547" y="134433"/>
              <a:ext cx="957834" cy="1462342"/>
            </a:xfrm>
            <a:custGeom>
              <a:avLst/>
              <a:gdLst/>
              <a:ahLst/>
              <a:cxnLst/>
              <a:rect l="l" t="t" r="r" b="b"/>
              <a:pathLst>
                <a:path w="957834" h="1462342">
                  <a:moveTo>
                    <a:pt x="0" y="0"/>
                  </a:moveTo>
                  <a:lnTo>
                    <a:pt x="957833" y="0"/>
                  </a:lnTo>
                  <a:lnTo>
                    <a:pt x="957833" y="1462342"/>
                  </a:lnTo>
                  <a:lnTo>
                    <a:pt x="0" y="14623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7" name="Freeform 7"/>
            <p:cNvSpPr/>
            <p:nvPr/>
          </p:nvSpPr>
          <p:spPr>
            <a:xfrm rot="1607780">
              <a:off x="715298" y="197732"/>
              <a:ext cx="957834" cy="1462342"/>
            </a:xfrm>
            <a:custGeom>
              <a:avLst/>
              <a:gdLst/>
              <a:ahLst/>
              <a:cxnLst/>
              <a:rect l="l" t="t" r="r" b="b"/>
              <a:pathLst>
                <a:path w="957834" h="1462342">
                  <a:moveTo>
                    <a:pt x="0" y="0"/>
                  </a:moveTo>
                  <a:lnTo>
                    <a:pt x="957834" y="0"/>
                  </a:lnTo>
                  <a:lnTo>
                    <a:pt x="957834" y="1462341"/>
                  </a:lnTo>
                  <a:lnTo>
                    <a:pt x="0" y="14623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8" name="Freeform 8"/>
            <p:cNvSpPr/>
            <p:nvPr/>
          </p:nvSpPr>
          <p:spPr>
            <a:xfrm rot="1518148">
              <a:off x="967915" y="273688"/>
              <a:ext cx="957834" cy="1462342"/>
            </a:xfrm>
            <a:custGeom>
              <a:avLst/>
              <a:gdLst/>
              <a:ahLst/>
              <a:cxnLst/>
              <a:rect l="l" t="t" r="r" b="b"/>
              <a:pathLst>
                <a:path w="957834" h="1462342">
                  <a:moveTo>
                    <a:pt x="0" y="0"/>
                  </a:moveTo>
                  <a:lnTo>
                    <a:pt x="957834" y="0"/>
                  </a:lnTo>
                  <a:lnTo>
                    <a:pt x="957834" y="1462341"/>
                  </a:lnTo>
                  <a:lnTo>
                    <a:pt x="0" y="14623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9" name="Freeform 9"/>
            <p:cNvSpPr/>
            <p:nvPr/>
          </p:nvSpPr>
          <p:spPr>
            <a:xfrm rot="-841249">
              <a:off x="179074" y="309339"/>
              <a:ext cx="957834" cy="1462342"/>
            </a:xfrm>
            <a:custGeom>
              <a:avLst/>
              <a:gdLst/>
              <a:ahLst/>
              <a:cxnLst/>
              <a:rect l="l" t="t" r="r" b="b"/>
              <a:pathLst>
                <a:path w="957834" h="1462342">
                  <a:moveTo>
                    <a:pt x="0" y="0"/>
                  </a:moveTo>
                  <a:lnTo>
                    <a:pt x="957833" y="0"/>
                  </a:lnTo>
                  <a:lnTo>
                    <a:pt x="957833" y="1462341"/>
                  </a:lnTo>
                  <a:lnTo>
                    <a:pt x="0" y="14623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73451" y="865604"/>
              <a:ext cx="1936992" cy="1880584"/>
            </a:xfrm>
            <a:custGeom>
              <a:avLst/>
              <a:gdLst/>
              <a:ahLst/>
              <a:cxnLst/>
              <a:rect l="l" t="t" r="r" b="b"/>
              <a:pathLst>
                <a:path w="1936992" h="1880584">
                  <a:moveTo>
                    <a:pt x="0" y="0"/>
                  </a:moveTo>
                  <a:lnTo>
                    <a:pt x="1936991" y="0"/>
                  </a:lnTo>
                  <a:lnTo>
                    <a:pt x="1936991" y="1880584"/>
                  </a:lnTo>
                  <a:lnTo>
                    <a:pt x="0" y="1880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0467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he-IL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7105373" y="410686"/>
            <a:ext cx="709965" cy="1486838"/>
          </a:xfrm>
          <a:custGeom>
            <a:avLst/>
            <a:gdLst/>
            <a:ahLst/>
            <a:cxnLst/>
            <a:rect l="l" t="t" r="r" b="b"/>
            <a:pathLst>
              <a:path w="709965" h="1486838">
                <a:moveTo>
                  <a:pt x="0" y="0"/>
                </a:moveTo>
                <a:lnTo>
                  <a:pt x="709965" y="0"/>
                </a:lnTo>
                <a:lnTo>
                  <a:pt x="709965" y="1486838"/>
                </a:lnTo>
                <a:lnTo>
                  <a:pt x="0" y="14868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2" name="Freeform 12"/>
          <p:cNvSpPr/>
          <p:nvPr/>
        </p:nvSpPr>
        <p:spPr>
          <a:xfrm>
            <a:off x="8260006" y="1085039"/>
            <a:ext cx="679251" cy="1037024"/>
          </a:xfrm>
          <a:custGeom>
            <a:avLst/>
            <a:gdLst/>
            <a:ahLst/>
            <a:cxnLst/>
            <a:rect l="l" t="t" r="r" b="b"/>
            <a:pathLst>
              <a:path w="679251" h="1037024">
                <a:moveTo>
                  <a:pt x="0" y="0"/>
                </a:moveTo>
                <a:lnTo>
                  <a:pt x="679251" y="0"/>
                </a:lnTo>
                <a:lnTo>
                  <a:pt x="679251" y="1037025"/>
                </a:lnTo>
                <a:lnTo>
                  <a:pt x="0" y="10370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he-IL"/>
          </a:p>
        </p:txBody>
      </p:sp>
      <p:sp>
        <p:nvSpPr>
          <p:cNvPr id="13" name="Freeform 13"/>
          <p:cNvSpPr/>
          <p:nvPr/>
        </p:nvSpPr>
        <p:spPr>
          <a:xfrm>
            <a:off x="1142761" y="893960"/>
            <a:ext cx="617668" cy="943004"/>
          </a:xfrm>
          <a:custGeom>
            <a:avLst/>
            <a:gdLst/>
            <a:ahLst/>
            <a:cxnLst/>
            <a:rect l="l" t="t" r="r" b="b"/>
            <a:pathLst>
              <a:path w="617668" h="943004">
                <a:moveTo>
                  <a:pt x="0" y="0"/>
                </a:moveTo>
                <a:lnTo>
                  <a:pt x="617668" y="0"/>
                </a:lnTo>
                <a:lnTo>
                  <a:pt x="617668" y="943004"/>
                </a:lnTo>
                <a:lnTo>
                  <a:pt x="0" y="9430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he-IL"/>
          </a:p>
        </p:txBody>
      </p:sp>
      <p:sp>
        <p:nvSpPr>
          <p:cNvPr id="14" name="Freeform 14"/>
          <p:cNvSpPr/>
          <p:nvPr/>
        </p:nvSpPr>
        <p:spPr>
          <a:xfrm>
            <a:off x="11396410" y="410686"/>
            <a:ext cx="820859" cy="1486838"/>
          </a:xfrm>
          <a:custGeom>
            <a:avLst/>
            <a:gdLst/>
            <a:ahLst/>
            <a:cxnLst/>
            <a:rect l="l" t="t" r="r" b="b"/>
            <a:pathLst>
              <a:path w="820859" h="1486838">
                <a:moveTo>
                  <a:pt x="0" y="0"/>
                </a:moveTo>
                <a:lnTo>
                  <a:pt x="820859" y="0"/>
                </a:lnTo>
                <a:lnTo>
                  <a:pt x="820859" y="1486838"/>
                </a:lnTo>
                <a:lnTo>
                  <a:pt x="0" y="14868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5" name="Freeform 15"/>
          <p:cNvSpPr/>
          <p:nvPr/>
        </p:nvSpPr>
        <p:spPr>
          <a:xfrm>
            <a:off x="8281986" y="1087992"/>
            <a:ext cx="679251" cy="1037024"/>
          </a:xfrm>
          <a:custGeom>
            <a:avLst/>
            <a:gdLst/>
            <a:ahLst/>
            <a:cxnLst/>
            <a:rect l="l" t="t" r="r" b="b"/>
            <a:pathLst>
              <a:path w="679251" h="1037024">
                <a:moveTo>
                  <a:pt x="0" y="0"/>
                </a:moveTo>
                <a:lnTo>
                  <a:pt x="679251" y="0"/>
                </a:lnTo>
                <a:lnTo>
                  <a:pt x="679251" y="1037024"/>
                </a:lnTo>
                <a:lnTo>
                  <a:pt x="0" y="10370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he-IL"/>
          </a:p>
        </p:txBody>
      </p:sp>
      <p:sp>
        <p:nvSpPr>
          <p:cNvPr id="16" name="Freeform 16"/>
          <p:cNvSpPr/>
          <p:nvPr/>
        </p:nvSpPr>
        <p:spPr>
          <a:xfrm>
            <a:off x="1162748" y="896645"/>
            <a:ext cx="617668" cy="943004"/>
          </a:xfrm>
          <a:custGeom>
            <a:avLst/>
            <a:gdLst/>
            <a:ahLst/>
            <a:cxnLst/>
            <a:rect l="l" t="t" r="r" b="b"/>
            <a:pathLst>
              <a:path w="617668" h="943004">
                <a:moveTo>
                  <a:pt x="0" y="0"/>
                </a:moveTo>
                <a:lnTo>
                  <a:pt x="617668" y="0"/>
                </a:lnTo>
                <a:lnTo>
                  <a:pt x="617668" y="943004"/>
                </a:lnTo>
                <a:lnTo>
                  <a:pt x="0" y="9430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he-IL"/>
          </a:p>
        </p:txBody>
      </p:sp>
      <p:sp>
        <p:nvSpPr>
          <p:cNvPr id="17" name="Freeform 17"/>
          <p:cNvSpPr/>
          <p:nvPr/>
        </p:nvSpPr>
        <p:spPr>
          <a:xfrm>
            <a:off x="8321329" y="1087992"/>
            <a:ext cx="679251" cy="1037024"/>
          </a:xfrm>
          <a:custGeom>
            <a:avLst/>
            <a:gdLst/>
            <a:ahLst/>
            <a:cxnLst/>
            <a:rect l="l" t="t" r="r" b="b"/>
            <a:pathLst>
              <a:path w="679251" h="1037024">
                <a:moveTo>
                  <a:pt x="0" y="0"/>
                </a:moveTo>
                <a:lnTo>
                  <a:pt x="679251" y="0"/>
                </a:lnTo>
                <a:lnTo>
                  <a:pt x="679251" y="1037024"/>
                </a:lnTo>
                <a:lnTo>
                  <a:pt x="0" y="10370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he-IL"/>
          </a:p>
        </p:txBody>
      </p:sp>
      <p:sp>
        <p:nvSpPr>
          <p:cNvPr id="18" name="Freeform 18"/>
          <p:cNvSpPr/>
          <p:nvPr/>
        </p:nvSpPr>
        <p:spPr>
          <a:xfrm>
            <a:off x="1198525" y="896645"/>
            <a:ext cx="617668" cy="943004"/>
          </a:xfrm>
          <a:custGeom>
            <a:avLst/>
            <a:gdLst/>
            <a:ahLst/>
            <a:cxnLst/>
            <a:rect l="l" t="t" r="r" b="b"/>
            <a:pathLst>
              <a:path w="617668" h="943004">
                <a:moveTo>
                  <a:pt x="0" y="0"/>
                </a:moveTo>
                <a:lnTo>
                  <a:pt x="617667" y="0"/>
                </a:lnTo>
                <a:lnTo>
                  <a:pt x="617667" y="943004"/>
                </a:lnTo>
                <a:lnTo>
                  <a:pt x="0" y="9430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he-IL"/>
          </a:p>
        </p:txBody>
      </p:sp>
      <p:sp>
        <p:nvSpPr>
          <p:cNvPr id="19" name="Freeform 19"/>
          <p:cNvSpPr/>
          <p:nvPr/>
        </p:nvSpPr>
        <p:spPr>
          <a:xfrm>
            <a:off x="8320108" y="1087992"/>
            <a:ext cx="679251" cy="1037024"/>
          </a:xfrm>
          <a:custGeom>
            <a:avLst/>
            <a:gdLst/>
            <a:ahLst/>
            <a:cxnLst/>
            <a:rect l="l" t="t" r="r" b="b"/>
            <a:pathLst>
              <a:path w="679251" h="1037024">
                <a:moveTo>
                  <a:pt x="0" y="0"/>
                </a:moveTo>
                <a:lnTo>
                  <a:pt x="679251" y="0"/>
                </a:lnTo>
                <a:lnTo>
                  <a:pt x="679251" y="1037024"/>
                </a:lnTo>
                <a:lnTo>
                  <a:pt x="0" y="10370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he-IL"/>
          </a:p>
        </p:txBody>
      </p:sp>
      <p:sp>
        <p:nvSpPr>
          <p:cNvPr id="20" name="Freeform 20"/>
          <p:cNvSpPr/>
          <p:nvPr/>
        </p:nvSpPr>
        <p:spPr>
          <a:xfrm>
            <a:off x="1197414" y="896645"/>
            <a:ext cx="617668" cy="943004"/>
          </a:xfrm>
          <a:custGeom>
            <a:avLst/>
            <a:gdLst/>
            <a:ahLst/>
            <a:cxnLst/>
            <a:rect l="l" t="t" r="r" b="b"/>
            <a:pathLst>
              <a:path w="617668" h="943004">
                <a:moveTo>
                  <a:pt x="0" y="0"/>
                </a:moveTo>
                <a:lnTo>
                  <a:pt x="617668" y="0"/>
                </a:lnTo>
                <a:lnTo>
                  <a:pt x="617668" y="943004"/>
                </a:lnTo>
                <a:lnTo>
                  <a:pt x="0" y="9430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he-IL"/>
          </a:p>
        </p:txBody>
      </p:sp>
      <p:sp>
        <p:nvSpPr>
          <p:cNvPr id="21" name="Freeform 21"/>
          <p:cNvSpPr/>
          <p:nvPr/>
        </p:nvSpPr>
        <p:spPr>
          <a:xfrm>
            <a:off x="8379875" y="1087992"/>
            <a:ext cx="679251" cy="1037024"/>
          </a:xfrm>
          <a:custGeom>
            <a:avLst/>
            <a:gdLst/>
            <a:ahLst/>
            <a:cxnLst/>
            <a:rect l="l" t="t" r="r" b="b"/>
            <a:pathLst>
              <a:path w="679251" h="1037024">
                <a:moveTo>
                  <a:pt x="0" y="0"/>
                </a:moveTo>
                <a:lnTo>
                  <a:pt x="679251" y="0"/>
                </a:lnTo>
                <a:lnTo>
                  <a:pt x="679251" y="1037024"/>
                </a:lnTo>
                <a:lnTo>
                  <a:pt x="0" y="10370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he-IL"/>
          </a:p>
        </p:txBody>
      </p:sp>
      <p:sp>
        <p:nvSpPr>
          <p:cNvPr id="22" name="Freeform 22"/>
          <p:cNvSpPr/>
          <p:nvPr/>
        </p:nvSpPr>
        <p:spPr>
          <a:xfrm>
            <a:off x="1251762" y="896645"/>
            <a:ext cx="617668" cy="943004"/>
          </a:xfrm>
          <a:custGeom>
            <a:avLst/>
            <a:gdLst/>
            <a:ahLst/>
            <a:cxnLst/>
            <a:rect l="l" t="t" r="r" b="b"/>
            <a:pathLst>
              <a:path w="617668" h="943004">
                <a:moveTo>
                  <a:pt x="0" y="0"/>
                </a:moveTo>
                <a:lnTo>
                  <a:pt x="617668" y="0"/>
                </a:lnTo>
                <a:lnTo>
                  <a:pt x="617668" y="943004"/>
                </a:lnTo>
                <a:lnTo>
                  <a:pt x="0" y="9430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he-IL"/>
          </a:p>
        </p:txBody>
      </p:sp>
      <p:sp>
        <p:nvSpPr>
          <p:cNvPr id="23" name="Freeform 23"/>
          <p:cNvSpPr/>
          <p:nvPr/>
        </p:nvSpPr>
        <p:spPr>
          <a:xfrm rot="-10776816">
            <a:off x="10172688" y="2006187"/>
            <a:ext cx="679251" cy="1037024"/>
          </a:xfrm>
          <a:custGeom>
            <a:avLst/>
            <a:gdLst/>
            <a:ahLst/>
            <a:cxnLst/>
            <a:rect l="l" t="t" r="r" b="b"/>
            <a:pathLst>
              <a:path w="679251" h="1037024">
                <a:moveTo>
                  <a:pt x="0" y="0"/>
                </a:moveTo>
                <a:lnTo>
                  <a:pt x="679251" y="0"/>
                </a:lnTo>
                <a:lnTo>
                  <a:pt x="679251" y="1037025"/>
                </a:lnTo>
                <a:lnTo>
                  <a:pt x="0" y="10370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he-IL"/>
          </a:p>
        </p:txBody>
      </p:sp>
      <p:sp>
        <p:nvSpPr>
          <p:cNvPr id="24" name="Freeform 24"/>
          <p:cNvSpPr/>
          <p:nvPr/>
        </p:nvSpPr>
        <p:spPr>
          <a:xfrm rot="-10776816">
            <a:off x="10150729" y="2003086"/>
            <a:ext cx="679251" cy="1037024"/>
          </a:xfrm>
          <a:custGeom>
            <a:avLst/>
            <a:gdLst/>
            <a:ahLst/>
            <a:cxnLst/>
            <a:rect l="l" t="t" r="r" b="b"/>
            <a:pathLst>
              <a:path w="679251" h="1037024">
                <a:moveTo>
                  <a:pt x="0" y="0"/>
                </a:moveTo>
                <a:lnTo>
                  <a:pt x="679251" y="0"/>
                </a:lnTo>
                <a:lnTo>
                  <a:pt x="679251" y="1037025"/>
                </a:lnTo>
                <a:lnTo>
                  <a:pt x="0" y="10370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he-IL"/>
          </a:p>
        </p:txBody>
      </p:sp>
      <p:sp>
        <p:nvSpPr>
          <p:cNvPr id="25" name="Freeform 25"/>
          <p:cNvSpPr/>
          <p:nvPr/>
        </p:nvSpPr>
        <p:spPr>
          <a:xfrm rot="-10776816">
            <a:off x="10111386" y="1965658"/>
            <a:ext cx="679251" cy="1037024"/>
          </a:xfrm>
          <a:custGeom>
            <a:avLst/>
            <a:gdLst/>
            <a:ahLst/>
            <a:cxnLst/>
            <a:rect l="l" t="t" r="r" b="b"/>
            <a:pathLst>
              <a:path w="679251" h="1037024">
                <a:moveTo>
                  <a:pt x="0" y="0"/>
                </a:moveTo>
                <a:lnTo>
                  <a:pt x="679251" y="0"/>
                </a:lnTo>
                <a:lnTo>
                  <a:pt x="679251" y="1037024"/>
                </a:lnTo>
                <a:lnTo>
                  <a:pt x="0" y="10370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he-IL"/>
          </a:p>
        </p:txBody>
      </p:sp>
      <p:sp>
        <p:nvSpPr>
          <p:cNvPr id="26" name="Freeform 26"/>
          <p:cNvSpPr/>
          <p:nvPr/>
        </p:nvSpPr>
        <p:spPr>
          <a:xfrm rot="-10776816">
            <a:off x="10150729" y="1903991"/>
            <a:ext cx="679251" cy="1037024"/>
          </a:xfrm>
          <a:custGeom>
            <a:avLst/>
            <a:gdLst/>
            <a:ahLst/>
            <a:cxnLst/>
            <a:rect l="l" t="t" r="r" b="b"/>
            <a:pathLst>
              <a:path w="679251" h="1037024">
                <a:moveTo>
                  <a:pt x="0" y="0"/>
                </a:moveTo>
                <a:lnTo>
                  <a:pt x="679251" y="0"/>
                </a:lnTo>
                <a:lnTo>
                  <a:pt x="679251" y="1037024"/>
                </a:lnTo>
                <a:lnTo>
                  <a:pt x="0" y="10370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he-IL"/>
          </a:p>
        </p:txBody>
      </p:sp>
      <p:sp>
        <p:nvSpPr>
          <p:cNvPr id="27" name="Freeform 27"/>
          <p:cNvSpPr/>
          <p:nvPr/>
        </p:nvSpPr>
        <p:spPr>
          <a:xfrm rot="-10776816">
            <a:off x="10111386" y="1761928"/>
            <a:ext cx="679251" cy="1037024"/>
          </a:xfrm>
          <a:custGeom>
            <a:avLst/>
            <a:gdLst/>
            <a:ahLst/>
            <a:cxnLst/>
            <a:rect l="l" t="t" r="r" b="b"/>
            <a:pathLst>
              <a:path w="679251" h="1037024">
                <a:moveTo>
                  <a:pt x="0" y="0"/>
                </a:moveTo>
                <a:lnTo>
                  <a:pt x="679251" y="0"/>
                </a:lnTo>
                <a:lnTo>
                  <a:pt x="679251" y="1037024"/>
                </a:lnTo>
                <a:lnTo>
                  <a:pt x="0" y="10370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he-IL"/>
          </a:p>
        </p:txBody>
      </p:sp>
      <p:grpSp>
        <p:nvGrpSpPr>
          <p:cNvPr id="28" name="Group 28"/>
          <p:cNvGrpSpPr/>
          <p:nvPr/>
        </p:nvGrpSpPr>
        <p:grpSpPr>
          <a:xfrm>
            <a:off x="4515662" y="2003909"/>
            <a:ext cx="698428" cy="1240178"/>
            <a:chOff x="0" y="0"/>
            <a:chExt cx="931237" cy="1653571"/>
          </a:xfrm>
        </p:grpSpPr>
        <p:sp>
          <p:nvSpPr>
            <p:cNvPr id="29" name="Freeform 29"/>
            <p:cNvSpPr/>
            <p:nvPr/>
          </p:nvSpPr>
          <p:spPr>
            <a:xfrm rot="-10776816">
              <a:off x="80714" y="307125"/>
              <a:ext cx="846177" cy="1291873"/>
            </a:xfrm>
            <a:custGeom>
              <a:avLst/>
              <a:gdLst/>
              <a:ahLst/>
              <a:cxnLst/>
              <a:rect l="l" t="t" r="r" b="b"/>
              <a:pathLst>
                <a:path w="846177" h="1291873">
                  <a:moveTo>
                    <a:pt x="0" y="0"/>
                  </a:moveTo>
                  <a:lnTo>
                    <a:pt x="846176" y="0"/>
                  </a:lnTo>
                  <a:lnTo>
                    <a:pt x="846176" y="1291873"/>
                  </a:lnTo>
                  <a:lnTo>
                    <a:pt x="0" y="12918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0" name="Freeform 30"/>
            <p:cNvSpPr/>
            <p:nvPr/>
          </p:nvSpPr>
          <p:spPr>
            <a:xfrm rot="-10776816">
              <a:off x="53358" y="303262"/>
              <a:ext cx="846177" cy="1291873"/>
            </a:xfrm>
            <a:custGeom>
              <a:avLst/>
              <a:gdLst/>
              <a:ahLst/>
              <a:cxnLst/>
              <a:rect l="l" t="t" r="r" b="b"/>
              <a:pathLst>
                <a:path w="846177" h="1291873">
                  <a:moveTo>
                    <a:pt x="0" y="0"/>
                  </a:moveTo>
                  <a:lnTo>
                    <a:pt x="846177" y="0"/>
                  </a:lnTo>
                  <a:lnTo>
                    <a:pt x="846177" y="1291873"/>
                  </a:lnTo>
                  <a:lnTo>
                    <a:pt x="0" y="12918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1" name="Freeform 31"/>
            <p:cNvSpPr/>
            <p:nvPr/>
          </p:nvSpPr>
          <p:spPr>
            <a:xfrm rot="-10776816">
              <a:off x="4346" y="358859"/>
              <a:ext cx="846177" cy="1291873"/>
            </a:xfrm>
            <a:custGeom>
              <a:avLst/>
              <a:gdLst/>
              <a:ahLst/>
              <a:cxnLst/>
              <a:rect l="l" t="t" r="r" b="b"/>
              <a:pathLst>
                <a:path w="846177" h="1291873">
                  <a:moveTo>
                    <a:pt x="0" y="0"/>
                  </a:moveTo>
                  <a:lnTo>
                    <a:pt x="846177" y="0"/>
                  </a:lnTo>
                  <a:lnTo>
                    <a:pt x="846177" y="1291873"/>
                  </a:lnTo>
                  <a:lnTo>
                    <a:pt x="0" y="12918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2" name="Freeform 32"/>
            <p:cNvSpPr/>
            <p:nvPr/>
          </p:nvSpPr>
          <p:spPr>
            <a:xfrm rot="-10776816">
              <a:off x="53358" y="179814"/>
              <a:ext cx="846177" cy="1291873"/>
            </a:xfrm>
            <a:custGeom>
              <a:avLst/>
              <a:gdLst/>
              <a:ahLst/>
              <a:cxnLst/>
              <a:rect l="l" t="t" r="r" b="b"/>
              <a:pathLst>
                <a:path w="846177" h="1291873">
                  <a:moveTo>
                    <a:pt x="0" y="0"/>
                  </a:moveTo>
                  <a:lnTo>
                    <a:pt x="846177" y="0"/>
                  </a:lnTo>
                  <a:lnTo>
                    <a:pt x="846177" y="1291873"/>
                  </a:lnTo>
                  <a:lnTo>
                    <a:pt x="0" y="12918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33" name="Freeform 33"/>
            <p:cNvSpPr/>
            <p:nvPr/>
          </p:nvSpPr>
          <p:spPr>
            <a:xfrm rot="-10776816">
              <a:off x="4346" y="2838"/>
              <a:ext cx="846177" cy="1291873"/>
            </a:xfrm>
            <a:custGeom>
              <a:avLst/>
              <a:gdLst/>
              <a:ahLst/>
              <a:cxnLst/>
              <a:rect l="l" t="t" r="r" b="b"/>
              <a:pathLst>
                <a:path w="846177" h="1291873">
                  <a:moveTo>
                    <a:pt x="0" y="0"/>
                  </a:moveTo>
                  <a:lnTo>
                    <a:pt x="846177" y="0"/>
                  </a:lnTo>
                  <a:lnTo>
                    <a:pt x="846177" y="1291874"/>
                  </a:lnTo>
                  <a:lnTo>
                    <a:pt x="0" y="1291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he-IL"/>
            </a:p>
          </p:txBody>
        </p:sp>
      </p:grpSp>
      <p:sp>
        <p:nvSpPr>
          <p:cNvPr id="34" name="Freeform 34"/>
          <p:cNvSpPr/>
          <p:nvPr/>
        </p:nvSpPr>
        <p:spPr>
          <a:xfrm rot="1850980">
            <a:off x="1071789" y="-69401"/>
            <a:ext cx="524444" cy="566666"/>
          </a:xfrm>
          <a:custGeom>
            <a:avLst/>
            <a:gdLst/>
            <a:ahLst/>
            <a:cxnLst/>
            <a:rect l="l" t="t" r="r" b="b"/>
            <a:pathLst>
              <a:path w="524444" h="566666">
                <a:moveTo>
                  <a:pt x="0" y="0"/>
                </a:moveTo>
                <a:lnTo>
                  <a:pt x="524444" y="0"/>
                </a:lnTo>
                <a:lnTo>
                  <a:pt x="524444" y="566666"/>
                </a:lnTo>
                <a:lnTo>
                  <a:pt x="0" y="5666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23249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5" name="Freeform 35"/>
          <p:cNvSpPr/>
          <p:nvPr/>
        </p:nvSpPr>
        <p:spPr>
          <a:xfrm rot="1850980">
            <a:off x="1216676" y="107837"/>
            <a:ext cx="241624" cy="200548"/>
          </a:xfrm>
          <a:custGeom>
            <a:avLst/>
            <a:gdLst/>
            <a:ahLst/>
            <a:cxnLst/>
            <a:rect l="l" t="t" r="r" b="b"/>
            <a:pathLst>
              <a:path w="241624" h="200548">
                <a:moveTo>
                  <a:pt x="0" y="0"/>
                </a:moveTo>
                <a:lnTo>
                  <a:pt x="241624" y="0"/>
                </a:lnTo>
                <a:lnTo>
                  <a:pt x="241624" y="200547"/>
                </a:lnTo>
                <a:lnTo>
                  <a:pt x="0" y="2005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6" name="Freeform 36"/>
          <p:cNvSpPr/>
          <p:nvPr/>
        </p:nvSpPr>
        <p:spPr>
          <a:xfrm rot="10510828">
            <a:off x="1442200" y="-142748"/>
            <a:ext cx="524444" cy="566666"/>
          </a:xfrm>
          <a:custGeom>
            <a:avLst/>
            <a:gdLst/>
            <a:ahLst/>
            <a:cxnLst/>
            <a:rect l="l" t="t" r="r" b="b"/>
            <a:pathLst>
              <a:path w="524444" h="566666">
                <a:moveTo>
                  <a:pt x="0" y="0"/>
                </a:moveTo>
                <a:lnTo>
                  <a:pt x="524444" y="0"/>
                </a:lnTo>
                <a:lnTo>
                  <a:pt x="524444" y="566665"/>
                </a:lnTo>
                <a:lnTo>
                  <a:pt x="0" y="56666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23249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7" name="Freeform 37"/>
          <p:cNvSpPr/>
          <p:nvPr/>
        </p:nvSpPr>
        <p:spPr>
          <a:xfrm rot="10510828">
            <a:off x="1584180" y="47067"/>
            <a:ext cx="241624" cy="200548"/>
          </a:xfrm>
          <a:custGeom>
            <a:avLst/>
            <a:gdLst/>
            <a:ahLst/>
            <a:cxnLst/>
            <a:rect l="l" t="t" r="r" b="b"/>
            <a:pathLst>
              <a:path w="241624" h="200548">
                <a:moveTo>
                  <a:pt x="0" y="0"/>
                </a:moveTo>
                <a:lnTo>
                  <a:pt x="241623" y="0"/>
                </a:lnTo>
                <a:lnTo>
                  <a:pt x="241623" y="200548"/>
                </a:lnTo>
                <a:lnTo>
                  <a:pt x="0" y="2005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8" name="Freeform 38"/>
          <p:cNvSpPr/>
          <p:nvPr/>
        </p:nvSpPr>
        <p:spPr>
          <a:xfrm rot="-499054">
            <a:off x="626591" y="-106062"/>
            <a:ext cx="524444" cy="566666"/>
          </a:xfrm>
          <a:custGeom>
            <a:avLst/>
            <a:gdLst/>
            <a:ahLst/>
            <a:cxnLst/>
            <a:rect l="l" t="t" r="r" b="b"/>
            <a:pathLst>
              <a:path w="524444" h="566666">
                <a:moveTo>
                  <a:pt x="0" y="0"/>
                </a:moveTo>
                <a:lnTo>
                  <a:pt x="524444" y="0"/>
                </a:lnTo>
                <a:lnTo>
                  <a:pt x="524444" y="566665"/>
                </a:lnTo>
                <a:lnTo>
                  <a:pt x="0" y="56666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23249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9" name="Freeform 39"/>
          <p:cNvSpPr/>
          <p:nvPr/>
        </p:nvSpPr>
        <p:spPr>
          <a:xfrm rot="-499054">
            <a:off x="752075" y="100013"/>
            <a:ext cx="273476" cy="154514"/>
          </a:xfrm>
          <a:custGeom>
            <a:avLst/>
            <a:gdLst/>
            <a:ahLst/>
            <a:cxnLst/>
            <a:rect l="l" t="t" r="r" b="b"/>
            <a:pathLst>
              <a:path w="273476" h="154514">
                <a:moveTo>
                  <a:pt x="0" y="0"/>
                </a:moveTo>
                <a:lnTo>
                  <a:pt x="273476" y="0"/>
                </a:lnTo>
                <a:lnTo>
                  <a:pt x="273476" y="154514"/>
                </a:lnTo>
                <a:lnTo>
                  <a:pt x="0" y="1545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grpSp>
        <p:nvGrpSpPr>
          <p:cNvPr id="40" name="Group 40"/>
          <p:cNvGrpSpPr/>
          <p:nvPr/>
        </p:nvGrpSpPr>
        <p:grpSpPr>
          <a:xfrm rot="1850980">
            <a:off x="13062475" y="5477444"/>
            <a:ext cx="524444" cy="566666"/>
            <a:chOff x="0" y="0"/>
            <a:chExt cx="699258" cy="755554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699258" cy="755554"/>
            </a:xfrm>
            <a:custGeom>
              <a:avLst/>
              <a:gdLst/>
              <a:ahLst/>
              <a:cxnLst/>
              <a:rect l="l" t="t" r="r" b="b"/>
              <a:pathLst>
                <a:path w="699258" h="755554">
                  <a:moveTo>
                    <a:pt x="0" y="0"/>
                  </a:moveTo>
                  <a:lnTo>
                    <a:pt x="699258" y="0"/>
                  </a:lnTo>
                  <a:lnTo>
                    <a:pt x="699258" y="755554"/>
                  </a:lnTo>
                  <a:lnTo>
                    <a:pt x="0" y="7555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23249"/>
              </a:stretch>
            </a:blipFill>
          </p:spPr>
          <p:txBody>
            <a:bodyPr/>
            <a:lstStyle/>
            <a:p>
              <a:endParaRPr lang="he-IL"/>
            </a:p>
          </p:txBody>
        </p:sp>
        <p:sp>
          <p:nvSpPr>
            <p:cNvPr id="42" name="Freeform 42"/>
            <p:cNvSpPr/>
            <p:nvPr/>
          </p:nvSpPr>
          <p:spPr>
            <a:xfrm>
              <a:off x="188547" y="235038"/>
              <a:ext cx="322165" cy="267397"/>
            </a:xfrm>
            <a:custGeom>
              <a:avLst/>
              <a:gdLst/>
              <a:ahLst/>
              <a:cxnLst/>
              <a:rect l="l" t="t" r="r" b="b"/>
              <a:pathLst>
                <a:path w="322165" h="267397">
                  <a:moveTo>
                    <a:pt x="0" y="0"/>
                  </a:moveTo>
                  <a:lnTo>
                    <a:pt x="322165" y="0"/>
                  </a:lnTo>
                  <a:lnTo>
                    <a:pt x="322165" y="267397"/>
                  </a:lnTo>
                  <a:lnTo>
                    <a:pt x="0" y="2673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he-IL"/>
            </a:p>
          </p:txBody>
        </p:sp>
      </p:grpSp>
      <p:grpSp>
        <p:nvGrpSpPr>
          <p:cNvPr id="43" name="Group 43"/>
          <p:cNvGrpSpPr/>
          <p:nvPr/>
        </p:nvGrpSpPr>
        <p:grpSpPr>
          <a:xfrm rot="-499054">
            <a:off x="12653964" y="5536868"/>
            <a:ext cx="524444" cy="566666"/>
            <a:chOff x="0" y="0"/>
            <a:chExt cx="699258" cy="755554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699258" cy="755554"/>
            </a:xfrm>
            <a:custGeom>
              <a:avLst/>
              <a:gdLst/>
              <a:ahLst/>
              <a:cxnLst/>
              <a:rect l="l" t="t" r="r" b="b"/>
              <a:pathLst>
                <a:path w="699258" h="755554">
                  <a:moveTo>
                    <a:pt x="0" y="0"/>
                  </a:moveTo>
                  <a:lnTo>
                    <a:pt x="699258" y="0"/>
                  </a:lnTo>
                  <a:lnTo>
                    <a:pt x="699258" y="755554"/>
                  </a:lnTo>
                  <a:lnTo>
                    <a:pt x="0" y="7555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23249"/>
              </a:stretch>
            </a:blipFill>
          </p:spPr>
          <p:txBody>
            <a:bodyPr/>
            <a:lstStyle/>
            <a:p>
              <a:endParaRPr lang="he-IL"/>
            </a:p>
          </p:txBody>
        </p:sp>
        <p:sp>
          <p:nvSpPr>
            <p:cNvPr id="45" name="Freeform 45"/>
            <p:cNvSpPr/>
            <p:nvPr/>
          </p:nvSpPr>
          <p:spPr>
            <a:xfrm>
              <a:off x="167312" y="274768"/>
              <a:ext cx="364634" cy="206018"/>
            </a:xfrm>
            <a:custGeom>
              <a:avLst/>
              <a:gdLst/>
              <a:ahLst/>
              <a:cxnLst/>
              <a:rect l="l" t="t" r="r" b="b"/>
              <a:pathLst>
                <a:path w="364634" h="206018">
                  <a:moveTo>
                    <a:pt x="0" y="0"/>
                  </a:moveTo>
                  <a:lnTo>
                    <a:pt x="364634" y="0"/>
                  </a:lnTo>
                  <a:lnTo>
                    <a:pt x="364634" y="206018"/>
                  </a:lnTo>
                  <a:lnTo>
                    <a:pt x="0" y="206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he-IL"/>
            </a:p>
          </p:txBody>
        </p:sp>
      </p:grpSp>
      <p:sp>
        <p:nvSpPr>
          <p:cNvPr id="46" name="Freeform 46"/>
          <p:cNvSpPr/>
          <p:nvPr/>
        </p:nvSpPr>
        <p:spPr>
          <a:xfrm rot="276474">
            <a:off x="10112027" y="1819679"/>
            <a:ext cx="701514" cy="1071014"/>
          </a:xfrm>
          <a:custGeom>
            <a:avLst/>
            <a:gdLst/>
            <a:ahLst/>
            <a:cxnLst/>
            <a:rect l="l" t="t" r="r" b="b"/>
            <a:pathLst>
              <a:path w="701514" h="1071014">
                <a:moveTo>
                  <a:pt x="0" y="0"/>
                </a:moveTo>
                <a:lnTo>
                  <a:pt x="701514" y="0"/>
                </a:lnTo>
                <a:lnTo>
                  <a:pt x="701514" y="1071014"/>
                </a:lnTo>
                <a:lnTo>
                  <a:pt x="0" y="10710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he-IL"/>
          </a:p>
        </p:txBody>
      </p:sp>
      <p:sp>
        <p:nvSpPr>
          <p:cNvPr id="47" name="Freeform 47"/>
          <p:cNvSpPr/>
          <p:nvPr/>
        </p:nvSpPr>
        <p:spPr>
          <a:xfrm rot="276474">
            <a:off x="4566067" y="2446037"/>
            <a:ext cx="655434" cy="1000662"/>
          </a:xfrm>
          <a:custGeom>
            <a:avLst/>
            <a:gdLst/>
            <a:ahLst/>
            <a:cxnLst/>
            <a:rect l="l" t="t" r="r" b="b"/>
            <a:pathLst>
              <a:path w="655434" h="1000662">
                <a:moveTo>
                  <a:pt x="0" y="0"/>
                </a:moveTo>
                <a:lnTo>
                  <a:pt x="655433" y="0"/>
                </a:lnTo>
                <a:lnTo>
                  <a:pt x="655433" y="1000662"/>
                </a:lnTo>
                <a:lnTo>
                  <a:pt x="0" y="10006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he-IL"/>
          </a:p>
        </p:txBody>
      </p:sp>
      <p:sp>
        <p:nvSpPr>
          <p:cNvPr id="48" name="Freeform 48"/>
          <p:cNvSpPr/>
          <p:nvPr/>
        </p:nvSpPr>
        <p:spPr>
          <a:xfrm rot="304961">
            <a:off x="1383009" y="1022413"/>
            <a:ext cx="573465" cy="875519"/>
          </a:xfrm>
          <a:custGeom>
            <a:avLst/>
            <a:gdLst/>
            <a:ahLst/>
            <a:cxnLst/>
            <a:rect l="l" t="t" r="r" b="b"/>
            <a:pathLst>
              <a:path w="573465" h="875519">
                <a:moveTo>
                  <a:pt x="0" y="0"/>
                </a:moveTo>
                <a:lnTo>
                  <a:pt x="573464" y="0"/>
                </a:lnTo>
                <a:lnTo>
                  <a:pt x="573464" y="875519"/>
                </a:lnTo>
                <a:lnTo>
                  <a:pt x="0" y="8755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he-IL"/>
          </a:p>
        </p:txBody>
      </p:sp>
      <p:sp>
        <p:nvSpPr>
          <p:cNvPr id="49" name="Freeform 49"/>
          <p:cNvSpPr/>
          <p:nvPr/>
        </p:nvSpPr>
        <p:spPr>
          <a:xfrm rot="304961">
            <a:off x="1289418" y="1064179"/>
            <a:ext cx="573465" cy="875519"/>
          </a:xfrm>
          <a:custGeom>
            <a:avLst/>
            <a:gdLst/>
            <a:ahLst/>
            <a:cxnLst/>
            <a:rect l="l" t="t" r="r" b="b"/>
            <a:pathLst>
              <a:path w="573465" h="875519">
                <a:moveTo>
                  <a:pt x="0" y="0"/>
                </a:moveTo>
                <a:lnTo>
                  <a:pt x="573464" y="0"/>
                </a:lnTo>
                <a:lnTo>
                  <a:pt x="573464" y="875519"/>
                </a:lnTo>
                <a:lnTo>
                  <a:pt x="0" y="8755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he-IL"/>
          </a:p>
        </p:txBody>
      </p:sp>
      <p:sp>
        <p:nvSpPr>
          <p:cNvPr id="50" name="Freeform 50"/>
          <p:cNvSpPr/>
          <p:nvPr/>
        </p:nvSpPr>
        <p:spPr>
          <a:xfrm rot="304961">
            <a:off x="1382534" y="796597"/>
            <a:ext cx="573465" cy="875519"/>
          </a:xfrm>
          <a:custGeom>
            <a:avLst/>
            <a:gdLst/>
            <a:ahLst/>
            <a:cxnLst/>
            <a:rect l="l" t="t" r="r" b="b"/>
            <a:pathLst>
              <a:path w="573465" h="875519">
                <a:moveTo>
                  <a:pt x="0" y="0"/>
                </a:moveTo>
                <a:lnTo>
                  <a:pt x="573465" y="0"/>
                </a:lnTo>
                <a:lnTo>
                  <a:pt x="573465" y="875518"/>
                </a:lnTo>
                <a:lnTo>
                  <a:pt x="0" y="8755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he-IL"/>
          </a:p>
        </p:txBody>
      </p:sp>
      <p:sp>
        <p:nvSpPr>
          <p:cNvPr id="51" name="Freeform 51"/>
          <p:cNvSpPr/>
          <p:nvPr/>
        </p:nvSpPr>
        <p:spPr>
          <a:xfrm>
            <a:off x="5493222" y="410686"/>
            <a:ext cx="724031" cy="1394603"/>
          </a:xfrm>
          <a:custGeom>
            <a:avLst/>
            <a:gdLst/>
            <a:ahLst/>
            <a:cxnLst/>
            <a:rect l="l" t="t" r="r" b="b"/>
            <a:pathLst>
              <a:path w="724031" h="1394603">
                <a:moveTo>
                  <a:pt x="0" y="0"/>
                </a:moveTo>
                <a:lnTo>
                  <a:pt x="724031" y="0"/>
                </a:lnTo>
                <a:lnTo>
                  <a:pt x="724031" y="1394602"/>
                </a:lnTo>
                <a:lnTo>
                  <a:pt x="0" y="13946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52" name="Freeform 52"/>
          <p:cNvSpPr/>
          <p:nvPr/>
        </p:nvSpPr>
        <p:spPr>
          <a:xfrm>
            <a:off x="12458023" y="-468565"/>
            <a:ext cx="65274" cy="9474589"/>
          </a:xfrm>
          <a:custGeom>
            <a:avLst/>
            <a:gdLst/>
            <a:ahLst/>
            <a:cxnLst/>
            <a:rect l="l" t="t" r="r" b="b"/>
            <a:pathLst>
              <a:path w="65274" h="9474589">
                <a:moveTo>
                  <a:pt x="0" y="457200"/>
                </a:moveTo>
                <a:lnTo>
                  <a:pt x="0" y="32638"/>
                </a:lnTo>
                <a:cubicBezTo>
                  <a:pt x="0" y="14613"/>
                  <a:pt x="14612" y="0"/>
                  <a:pt x="32637" y="0"/>
                </a:cubicBezTo>
                <a:lnTo>
                  <a:pt x="32637" y="0"/>
                </a:lnTo>
                <a:cubicBezTo>
                  <a:pt x="41292" y="0"/>
                  <a:pt x="49594" y="3439"/>
                  <a:pt x="55715" y="9560"/>
                </a:cubicBezTo>
                <a:cubicBezTo>
                  <a:pt x="61835" y="15680"/>
                  <a:pt x="65274" y="23982"/>
                  <a:pt x="65274" y="32638"/>
                </a:cubicBezTo>
                <a:lnTo>
                  <a:pt x="65274" y="9474590"/>
                </a:lnTo>
              </a:path>
            </a:pathLst>
          </a:custGeom>
          <a:ln w="47625" cap="rnd">
            <a:solidFill>
              <a:srgbClr val="F2C762">
                <a:alpha val="80000"/>
              </a:srgbClr>
            </a:solidFill>
            <a:prstDash val="sysDash"/>
            <a:headEnd type="none" w="sm" len="sm"/>
            <a:tailEnd type="oval" w="lg" len="lg"/>
          </a:ln>
        </p:spPr>
        <p:txBody>
          <a:bodyPr/>
          <a:lstStyle/>
          <a:p>
            <a:endParaRPr lang="he-IL"/>
          </a:p>
        </p:txBody>
      </p:sp>
      <p:sp>
        <p:nvSpPr>
          <p:cNvPr id="53" name="Freeform 53"/>
          <p:cNvSpPr/>
          <p:nvPr/>
        </p:nvSpPr>
        <p:spPr>
          <a:xfrm>
            <a:off x="6578843" y="2313349"/>
            <a:ext cx="0" cy="2399201"/>
          </a:xfrm>
          <a:custGeom>
            <a:avLst/>
            <a:gdLst/>
            <a:ahLst/>
            <a:cxnLst/>
            <a:rect l="l" t="t" r="r" b="b"/>
            <a:pathLst>
              <a:path h="2399201">
                <a:moveTo>
                  <a:pt x="0" y="0"/>
                </a:moveTo>
                <a:lnTo>
                  <a:pt x="0" y="2399201"/>
                </a:lnTo>
              </a:path>
            </a:pathLst>
          </a:custGeom>
          <a:ln w="47625" cap="rnd">
            <a:solidFill>
              <a:srgbClr val="F2C762">
                <a:alpha val="80000"/>
              </a:srgbClr>
            </a:solidFill>
            <a:prstDash val="sysDash"/>
            <a:headEnd type="none" w="sm" len="sm"/>
            <a:tailEnd type="oval" w="lg" len="lg"/>
          </a:ln>
        </p:spPr>
        <p:txBody>
          <a:bodyPr/>
          <a:lstStyle/>
          <a:p>
            <a:endParaRPr lang="he-IL"/>
          </a:p>
        </p:txBody>
      </p:sp>
      <p:sp>
        <p:nvSpPr>
          <p:cNvPr id="54" name="Freeform 54"/>
          <p:cNvSpPr/>
          <p:nvPr/>
        </p:nvSpPr>
        <p:spPr>
          <a:xfrm>
            <a:off x="17105373" y="5226985"/>
            <a:ext cx="833962" cy="1353285"/>
          </a:xfrm>
          <a:custGeom>
            <a:avLst/>
            <a:gdLst/>
            <a:ahLst/>
            <a:cxnLst/>
            <a:rect l="l" t="t" r="r" b="b"/>
            <a:pathLst>
              <a:path w="833962" h="1353285">
                <a:moveTo>
                  <a:pt x="0" y="0"/>
                </a:moveTo>
                <a:lnTo>
                  <a:pt x="833962" y="0"/>
                </a:lnTo>
                <a:lnTo>
                  <a:pt x="833962" y="1353284"/>
                </a:lnTo>
                <a:lnTo>
                  <a:pt x="0" y="13532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55" name="Freeform 55"/>
          <p:cNvSpPr/>
          <p:nvPr/>
        </p:nvSpPr>
        <p:spPr>
          <a:xfrm>
            <a:off x="11471712" y="5226985"/>
            <a:ext cx="764606" cy="1353285"/>
          </a:xfrm>
          <a:custGeom>
            <a:avLst/>
            <a:gdLst/>
            <a:ahLst/>
            <a:cxnLst/>
            <a:rect l="l" t="t" r="r" b="b"/>
            <a:pathLst>
              <a:path w="764606" h="1353285">
                <a:moveTo>
                  <a:pt x="0" y="0"/>
                </a:moveTo>
                <a:lnTo>
                  <a:pt x="764605" y="0"/>
                </a:lnTo>
                <a:lnTo>
                  <a:pt x="764605" y="1353284"/>
                </a:lnTo>
                <a:lnTo>
                  <a:pt x="0" y="13532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56" name="Freeform 56"/>
          <p:cNvSpPr/>
          <p:nvPr/>
        </p:nvSpPr>
        <p:spPr>
          <a:xfrm>
            <a:off x="5560910" y="5226985"/>
            <a:ext cx="656343" cy="1353285"/>
          </a:xfrm>
          <a:custGeom>
            <a:avLst/>
            <a:gdLst/>
            <a:ahLst/>
            <a:cxnLst/>
            <a:rect l="l" t="t" r="r" b="b"/>
            <a:pathLst>
              <a:path w="656343" h="1353285">
                <a:moveTo>
                  <a:pt x="0" y="0"/>
                </a:moveTo>
                <a:lnTo>
                  <a:pt x="656343" y="0"/>
                </a:lnTo>
                <a:lnTo>
                  <a:pt x="656343" y="1353284"/>
                </a:lnTo>
                <a:lnTo>
                  <a:pt x="0" y="13532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57" name="Freeform 57"/>
          <p:cNvSpPr/>
          <p:nvPr/>
        </p:nvSpPr>
        <p:spPr>
          <a:xfrm>
            <a:off x="2121726" y="1499443"/>
            <a:ext cx="943849" cy="1414487"/>
          </a:xfrm>
          <a:custGeom>
            <a:avLst/>
            <a:gdLst/>
            <a:ahLst/>
            <a:cxnLst/>
            <a:rect l="l" t="t" r="r" b="b"/>
            <a:pathLst>
              <a:path w="943849" h="1414487">
                <a:moveTo>
                  <a:pt x="0" y="0"/>
                </a:moveTo>
                <a:lnTo>
                  <a:pt x="943849" y="0"/>
                </a:lnTo>
                <a:lnTo>
                  <a:pt x="943849" y="1414487"/>
                </a:lnTo>
                <a:lnTo>
                  <a:pt x="0" y="14144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58" name="Freeform 58"/>
          <p:cNvSpPr/>
          <p:nvPr/>
        </p:nvSpPr>
        <p:spPr>
          <a:xfrm>
            <a:off x="3258680" y="1519512"/>
            <a:ext cx="943849" cy="1423782"/>
          </a:xfrm>
          <a:custGeom>
            <a:avLst/>
            <a:gdLst/>
            <a:ahLst/>
            <a:cxnLst/>
            <a:rect l="l" t="t" r="r" b="b"/>
            <a:pathLst>
              <a:path w="943849" h="1423782">
                <a:moveTo>
                  <a:pt x="0" y="0"/>
                </a:moveTo>
                <a:lnTo>
                  <a:pt x="943849" y="0"/>
                </a:lnTo>
                <a:lnTo>
                  <a:pt x="943849" y="1423782"/>
                </a:lnTo>
                <a:lnTo>
                  <a:pt x="0" y="14237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59" name="Freeform 59"/>
          <p:cNvSpPr/>
          <p:nvPr/>
        </p:nvSpPr>
        <p:spPr>
          <a:xfrm>
            <a:off x="13866558" y="7056738"/>
            <a:ext cx="874469" cy="1310513"/>
          </a:xfrm>
          <a:custGeom>
            <a:avLst/>
            <a:gdLst/>
            <a:ahLst/>
            <a:cxnLst/>
            <a:rect l="l" t="t" r="r" b="b"/>
            <a:pathLst>
              <a:path w="874469" h="1310513">
                <a:moveTo>
                  <a:pt x="0" y="0"/>
                </a:moveTo>
                <a:lnTo>
                  <a:pt x="874469" y="0"/>
                </a:lnTo>
                <a:lnTo>
                  <a:pt x="874469" y="1310512"/>
                </a:lnTo>
                <a:lnTo>
                  <a:pt x="0" y="13105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60" name="Freeform 60"/>
          <p:cNvSpPr/>
          <p:nvPr/>
        </p:nvSpPr>
        <p:spPr>
          <a:xfrm>
            <a:off x="15566009" y="7230389"/>
            <a:ext cx="874469" cy="1319124"/>
          </a:xfrm>
          <a:custGeom>
            <a:avLst/>
            <a:gdLst/>
            <a:ahLst/>
            <a:cxnLst/>
            <a:rect l="l" t="t" r="r" b="b"/>
            <a:pathLst>
              <a:path w="874469" h="1319124">
                <a:moveTo>
                  <a:pt x="0" y="0"/>
                </a:moveTo>
                <a:lnTo>
                  <a:pt x="874469" y="0"/>
                </a:lnTo>
                <a:lnTo>
                  <a:pt x="874469" y="1319124"/>
                </a:lnTo>
                <a:lnTo>
                  <a:pt x="0" y="13191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61" name="Freeform 61"/>
          <p:cNvSpPr/>
          <p:nvPr/>
        </p:nvSpPr>
        <p:spPr>
          <a:xfrm>
            <a:off x="8127833" y="6207075"/>
            <a:ext cx="632293" cy="965332"/>
          </a:xfrm>
          <a:custGeom>
            <a:avLst/>
            <a:gdLst/>
            <a:ahLst/>
            <a:cxnLst/>
            <a:rect l="l" t="t" r="r" b="b"/>
            <a:pathLst>
              <a:path w="632293" h="965332">
                <a:moveTo>
                  <a:pt x="0" y="0"/>
                </a:moveTo>
                <a:lnTo>
                  <a:pt x="632293" y="0"/>
                </a:lnTo>
                <a:lnTo>
                  <a:pt x="632293" y="965332"/>
                </a:lnTo>
                <a:lnTo>
                  <a:pt x="0" y="9653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he-IL"/>
          </a:p>
        </p:txBody>
      </p:sp>
      <p:sp>
        <p:nvSpPr>
          <p:cNvPr id="62" name="Freeform 62"/>
          <p:cNvSpPr/>
          <p:nvPr/>
        </p:nvSpPr>
        <p:spPr>
          <a:xfrm>
            <a:off x="3739943" y="7443338"/>
            <a:ext cx="632293" cy="965332"/>
          </a:xfrm>
          <a:custGeom>
            <a:avLst/>
            <a:gdLst/>
            <a:ahLst/>
            <a:cxnLst/>
            <a:rect l="l" t="t" r="r" b="b"/>
            <a:pathLst>
              <a:path w="632293" h="965332">
                <a:moveTo>
                  <a:pt x="0" y="0"/>
                </a:moveTo>
                <a:lnTo>
                  <a:pt x="632292" y="0"/>
                </a:lnTo>
                <a:lnTo>
                  <a:pt x="632292" y="965332"/>
                </a:lnTo>
                <a:lnTo>
                  <a:pt x="0" y="9653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he-IL"/>
          </a:p>
        </p:txBody>
      </p:sp>
      <p:sp>
        <p:nvSpPr>
          <p:cNvPr id="63" name="Freeform 63"/>
          <p:cNvSpPr/>
          <p:nvPr/>
        </p:nvSpPr>
        <p:spPr>
          <a:xfrm>
            <a:off x="8148293" y="6209823"/>
            <a:ext cx="632293" cy="965332"/>
          </a:xfrm>
          <a:custGeom>
            <a:avLst/>
            <a:gdLst/>
            <a:ahLst/>
            <a:cxnLst/>
            <a:rect l="l" t="t" r="r" b="b"/>
            <a:pathLst>
              <a:path w="632293" h="965332">
                <a:moveTo>
                  <a:pt x="0" y="0"/>
                </a:moveTo>
                <a:lnTo>
                  <a:pt x="632293" y="0"/>
                </a:lnTo>
                <a:lnTo>
                  <a:pt x="632293" y="965333"/>
                </a:lnTo>
                <a:lnTo>
                  <a:pt x="0" y="9653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he-IL"/>
          </a:p>
        </p:txBody>
      </p:sp>
      <p:sp>
        <p:nvSpPr>
          <p:cNvPr id="64" name="Freeform 64"/>
          <p:cNvSpPr/>
          <p:nvPr/>
        </p:nvSpPr>
        <p:spPr>
          <a:xfrm>
            <a:off x="3760403" y="7446086"/>
            <a:ext cx="632293" cy="965332"/>
          </a:xfrm>
          <a:custGeom>
            <a:avLst/>
            <a:gdLst/>
            <a:ahLst/>
            <a:cxnLst/>
            <a:rect l="l" t="t" r="r" b="b"/>
            <a:pathLst>
              <a:path w="632293" h="965332">
                <a:moveTo>
                  <a:pt x="0" y="0"/>
                </a:moveTo>
                <a:lnTo>
                  <a:pt x="632293" y="0"/>
                </a:lnTo>
                <a:lnTo>
                  <a:pt x="632293" y="965333"/>
                </a:lnTo>
                <a:lnTo>
                  <a:pt x="0" y="9653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he-IL"/>
          </a:p>
        </p:txBody>
      </p:sp>
      <p:sp>
        <p:nvSpPr>
          <p:cNvPr id="65" name="Freeform 65"/>
          <p:cNvSpPr/>
          <p:nvPr/>
        </p:nvSpPr>
        <p:spPr>
          <a:xfrm>
            <a:off x="8184917" y="6209823"/>
            <a:ext cx="632293" cy="965332"/>
          </a:xfrm>
          <a:custGeom>
            <a:avLst/>
            <a:gdLst/>
            <a:ahLst/>
            <a:cxnLst/>
            <a:rect l="l" t="t" r="r" b="b"/>
            <a:pathLst>
              <a:path w="632293" h="965332">
                <a:moveTo>
                  <a:pt x="0" y="0"/>
                </a:moveTo>
                <a:lnTo>
                  <a:pt x="632293" y="0"/>
                </a:lnTo>
                <a:lnTo>
                  <a:pt x="632293" y="965333"/>
                </a:lnTo>
                <a:lnTo>
                  <a:pt x="0" y="9653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he-IL"/>
          </a:p>
        </p:txBody>
      </p:sp>
      <p:sp>
        <p:nvSpPr>
          <p:cNvPr id="66" name="Freeform 66"/>
          <p:cNvSpPr/>
          <p:nvPr/>
        </p:nvSpPr>
        <p:spPr>
          <a:xfrm>
            <a:off x="3797027" y="7446086"/>
            <a:ext cx="632293" cy="965332"/>
          </a:xfrm>
          <a:custGeom>
            <a:avLst/>
            <a:gdLst/>
            <a:ahLst/>
            <a:cxnLst/>
            <a:rect l="l" t="t" r="r" b="b"/>
            <a:pathLst>
              <a:path w="632293" h="965332">
                <a:moveTo>
                  <a:pt x="0" y="0"/>
                </a:moveTo>
                <a:lnTo>
                  <a:pt x="632292" y="0"/>
                </a:lnTo>
                <a:lnTo>
                  <a:pt x="632292" y="965333"/>
                </a:lnTo>
                <a:lnTo>
                  <a:pt x="0" y="9653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he-IL"/>
          </a:p>
        </p:txBody>
      </p:sp>
      <p:sp>
        <p:nvSpPr>
          <p:cNvPr id="67" name="Freeform 67"/>
          <p:cNvSpPr/>
          <p:nvPr/>
        </p:nvSpPr>
        <p:spPr>
          <a:xfrm>
            <a:off x="8183780" y="6209823"/>
            <a:ext cx="632293" cy="965332"/>
          </a:xfrm>
          <a:custGeom>
            <a:avLst/>
            <a:gdLst/>
            <a:ahLst/>
            <a:cxnLst/>
            <a:rect l="l" t="t" r="r" b="b"/>
            <a:pathLst>
              <a:path w="632293" h="965332">
                <a:moveTo>
                  <a:pt x="0" y="0"/>
                </a:moveTo>
                <a:lnTo>
                  <a:pt x="632293" y="0"/>
                </a:lnTo>
                <a:lnTo>
                  <a:pt x="632293" y="965333"/>
                </a:lnTo>
                <a:lnTo>
                  <a:pt x="0" y="9653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he-IL"/>
          </a:p>
        </p:txBody>
      </p:sp>
      <p:sp>
        <p:nvSpPr>
          <p:cNvPr id="68" name="Freeform 68"/>
          <p:cNvSpPr/>
          <p:nvPr/>
        </p:nvSpPr>
        <p:spPr>
          <a:xfrm>
            <a:off x="3795890" y="7446086"/>
            <a:ext cx="632293" cy="965332"/>
          </a:xfrm>
          <a:custGeom>
            <a:avLst/>
            <a:gdLst/>
            <a:ahLst/>
            <a:cxnLst/>
            <a:rect l="l" t="t" r="r" b="b"/>
            <a:pathLst>
              <a:path w="632293" h="965332">
                <a:moveTo>
                  <a:pt x="0" y="0"/>
                </a:moveTo>
                <a:lnTo>
                  <a:pt x="632292" y="0"/>
                </a:lnTo>
                <a:lnTo>
                  <a:pt x="632292" y="965333"/>
                </a:lnTo>
                <a:lnTo>
                  <a:pt x="0" y="9653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he-IL"/>
          </a:p>
        </p:txBody>
      </p:sp>
      <p:sp>
        <p:nvSpPr>
          <p:cNvPr id="69" name="Freeform 69"/>
          <p:cNvSpPr/>
          <p:nvPr/>
        </p:nvSpPr>
        <p:spPr>
          <a:xfrm>
            <a:off x="8239415" y="6209823"/>
            <a:ext cx="632293" cy="965332"/>
          </a:xfrm>
          <a:custGeom>
            <a:avLst/>
            <a:gdLst/>
            <a:ahLst/>
            <a:cxnLst/>
            <a:rect l="l" t="t" r="r" b="b"/>
            <a:pathLst>
              <a:path w="632293" h="965332">
                <a:moveTo>
                  <a:pt x="0" y="0"/>
                </a:moveTo>
                <a:lnTo>
                  <a:pt x="632293" y="0"/>
                </a:lnTo>
                <a:lnTo>
                  <a:pt x="632293" y="965333"/>
                </a:lnTo>
                <a:lnTo>
                  <a:pt x="0" y="9653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he-IL"/>
          </a:p>
        </p:txBody>
      </p:sp>
      <p:sp>
        <p:nvSpPr>
          <p:cNvPr id="70" name="Freeform 70"/>
          <p:cNvSpPr/>
          <p:nvPr/>
        </p:nvSpPr>
        <p:spPr>
          <a:xfrm>
            <a:off x="3851525" y="7446086"/>
            <a:ext cx="632293" cy="965332"/>
          </a:xfrm>
          <a:custGeom>
            <a:avLst/>
            <a:gdLst/>
            <a:ahLst/>
            <a:cxnLst/>
            <a:rect l="l" t="t" r="r" b="b"/>
            <a:pathLst>
              <a:path w="632293" h="965332">
                <a:moveTo>
                  <a:pt x="0" y="0"/>
                </a:moveTo>
                <a:lnTo>
                  <a:pt x="632293" y="0"/>
                </a:lnTo>
                <a:lnTo>
                  <a:pt x="632293" y="965333"/>
                </a:lnTo>
                <a:lnTo>
                  <a:pt x="0" y="9653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he-IL"/>
          </a:p>
        </p:txBody>
      </p:sp>
      <p:sp>
        <p:nvSpPr>
          <p:cNvPr id="71" name="Freeform 71"/>
          <p:cNvSpPr/>
          <p:nvPr/>
        </p:nvSpPr>
        <p:spPr>
          <a:xfrm rot="1025470">
            <a:off x="10683707" y="8031870"/>
            <a:ext cx="655434" cy="1000662"/>
          </a:xfrm>
          <a:custGeom>
            <a:avLst/>
            <a:gdLst/>
            <a:ahLst/>
            <a:cxnLst/>
            <a:rect l="l" t="t" r="r" b="b"/>
            <a:pathLst>
              <a:path w="655434" h="1000662">
                <a:moveTo>
                  <a:pt x="0" y="0"/>
                </a:moveTo>
                <a:lnTo>
                  <a:pt x="655433" y="0"/>
                </a:lnTo>
                <a:lnTo>
                  <a:pt x="655433" y="1000662"/>
                </a:lnTo>
                <a:lnTo>
                  <a:pt x="0" y="10006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he-IL"/>
          </a:p>
        </p:txBody>
      </p:sp>
      <p:sp>
        <p:nvSpPr>
          <p:cNvPr id="72" name="Freeform 72"/>
          <p:cNvSpPr/>
          <p:nvPr/>
        </p:nvSpPr>
        <p:spPr>
          <a:xfrm rot="1025470">
            <a:off x="4488356" y="7785455"/>
            <a:ext cx="655434" cy="1000662"/>
          </a:xfrm>
          <a:custGeom>
            <a:avLst/>
            <a:gdLst/>
            <a:ahLst/>
            <a:cxnLst/>
            <a:rect l="l" t="t" r="r" b="b"/>
            <a:pathLst>
              <a:path w="655434" h="1000662">
                <a:moveTo>
                  <a:pt x="0" y="0"/>
                </a:moveTo>
                <a:lnTo>
                  <a:pt x="655434" y="0"/>
                </a:lnTo>
                <a:lnTo>
                  <a:pt x="655434" y="1000662"/>
                </a:lnTo>
                <a:lnTo>
                  <a:pt x="0" y="10006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he-IL"/>
          </a:p>
        </p:txBody>
      </p:sp>
      <p:sp>
        <p:nvSpPr>
          <p:cNvPr id="73" name="Freeform 73"/>
          <p:cNvSpPr/>
          <p:nvPr/>
        </p:nvSpPr>
        <p:spPr>
          <a:xfrm rot="1025470">
            <a:off x="10503628" y="7898952"/>
            <a:ext cx="655434" cy="1000662"/>
          </a:xfrm>
          <a:custGeom>
            <a:avLst/>
            <a:gdLst/>
            <a:ahLst/>
            <a:cxnLst/>
            <a:rect l="l" t="t" r="r" b="b"/>
            <a:pathLst>
              <a:path w="655434" h="1000662">
                <a:moveTo>
                  <a:pt x="0" y="0"/>
                </a:moveTo>
                <a:lnTo>
                  <a:pt x="655433" y="0"/>
                </a:lnTo>
                <a:lnTo>
                  <a:pt x="655433" y="1000662"/>
                </a:lnTo>
                <a:lnTo>
                  <a:pt x="0" y="10006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he-IL"/>
          </a:p>
        </p:txBody>
      </p:sp>
      <p:sp>
        <p:nvSpPr>
          <p:cNvPr id="74" name="Freeform 74"/>
          <p:cNvSpPr/>
          <p:nvPr/>
        </p:nvSpPr>
        <p:spPr>
          <a:xfrm rot="1025470">
            <a:off x="4308277" y="7652537"/>
            <a:ext cx="655434" cy="1000662"/>
          </a:xfrm>
          <a:custGeom>
            <a:avLst/>
            <a:gdLst/>
            <a:ahLst/>
            <a:cxnLst/>
            <a:rect l="l" t="t" r="r" b="b"/>
            <a:pathLst>
              <a:path w="655434" h="1000662">
                <a:moveTo>
                  <a:pt x="0" y="0"/>
                </a:moveTo>
                <a:lnTo>
                  <a:pt x="655434" y="0"/>
                </a:lnTo>
                <a:lnTo>
                  <a:pt x="655434" y="1000662"/>
                </a:lnTo>
                <a:lnTo>
                  <a:pt x="0" y="10006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he-IL"/>
          </a:p>
        </p:txBody>
      </p:sp>
      <p:sp>
        <p:nvSpPr>
          <p:cNvPr id="75" name="Freeform 75"/>
          <p:cNvSpPr/>
          <p:nvPr/>
        </p:nvSpPr>
        <p:spPr>
          <a:xfrm rot="-10776816">
            <a:off x="10130916" y="7651914"/>
            <a:ext cx="634633" cy="968905"/>
          </a:xfrm>
          <a:custGeom>
            <a:avLst/>
            <a:gdLst/>
            <a:ahLst/>
            <a:cxnLst/>
            <a:rect l="l" t="t" r="r" b="b"/>
            <a:pathLst>
              <a:path w="634633" h="968905">
                <a:moveTo>
                  <a:pt x="0" y="0"/>
                </a:moveTo>
                <a:lnTo>
                  <a:pt x="634633" y="0"/>
                </a:lnTo>
                <a:lnTo>
                  <a:pt x="634633" y="968904"/>
                </a:lnTo>
                <a:lnTo>
                  <a:pt x="0" y="9689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he-IL"/>
          </a:p>
        </p:txBody>
      </p:sp>
      <p:sp>
        <p:nvSpPr>
          <p:cNvPr id="76" name="Freeform 76"/>
          <p:cNvSpPr/>
          <p:nvPr/>
        </p:nvSpPr>
        <p:spPr>
          <a:xfrm rot="-10776816">
            <a:off x="3935565" y="7405499"/>
            <a:ext cx="634633" cy="968905"/>
          </a:xfrm>
          <a:custGeom>
            <a:avLst/>
            <a:gdLst/>
            <a:ahLst/>
            <a:cxnLst/>
            <a:rect l="l" t="t" r="r" b="b"/>
            <a:pathLst>
              <a:path w="634633" h="968905">
                <a:moveTo>
                  <a:pt x="0" y="0"/>
                </a:moveTo>
                <a:lnTo>
                  <a:pt x="634633" y="0"/>
                </a:lnTo>
                <a:lnTo>
                  <a:pt x="634633" y="968905"/>
                </a:lnTo>
                <a:lnTo>
                  <a:pt x="0" y="968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he-IL"/>
          </a:p>
        </p:txBody>
      </p:sp>
      <p:sp>
        <p:nvSpPr>
          <p:cNvPr id="77" name="Freeform 77"/>
          <p:cNvSpPr/>
          <p:nvPr/>
        </p:nvSpPr>
        <p:spPr>
          <a:xfrm rot="-10776816">
            <a:off x="10110399" y="7649017"/>
            <a:ext cx="634633" cy="968905"/>
          </a:xfrm>
          <a:custGeom>
            <a:avLst/>
            <a:gdLst/>
            <a:ahLst/>
            <a:cxnLst/>
            <a:rect l="l" t="t" r="r" b="b"/>
            <a:pathLst>
              <a:path w="634633" h="968905">
                <a:moveTo>
                  <a:pt x="0" y="0"/>
                </a:moveTo>
                <a:lnTo>
                  <a:pt x="634633" y="0"/>
                </a:lnTo>
                <a:lnTo>
                  <a:pt x="634633" y="968904"/>
                </a:lnTo>
                <a:lnTo>
                  <a:pt x="0" y="9689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he-IL"/>
          </a:p>
        </p:txBody>
      </p:sp>
      <p:sp>
        <p:nvSpPr>
          <p:cNvPr id="78" name="Freeform 78"/>
          <p:cNvSpPr/>
          <p:nvPr/>
        </p:nvSpPr>
        <p:spPr>
          <a:xfrm rot="-10776816">
            <a:off x="3915048" y="7402602"/>
            <a:ext cx="634633" cy="968905"/>
          </a:xfrm>
          <a:custGeom>
            <a:avLst/>
            <a:gdLst/>
            <a:ahLst/>
            <a:cxnLst/>
            <a:rect l="l" t="t" r="r" b="b"/>
            <a:pathLst>
              <a:path w="634633" h="968905">
                <a:moveTo>
                  <a:pt x="0" y="0"/>
                </a:moveTo>
                <a:lnTo>
                  <a:pt x="634633" y="0"/>
                </a:lnTo>
                <a:lnTo>
                  <a:pt x="634633" y="968905"/>
                </a:lnTo>
                <a:lnTo>
                  <a:pt x="0" y="968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he-IL"/>
          </a:p>
        </p:txBody>
      </p:sp>
      <p:sp>
        <p:nvSpPr>
          <p:cNvPr id="79" name="Freeform 79"/>
          <p:cNvSpPr/>
          <p:nvPr/>
        </p:nvSpPr>
        <p:spPr>
          <a:xfrm rot="-10776816">
            <a:off x="10073640" y="7690715"/>
            <a:ext cx="634633" cy="968905"/>
          </a:xfrm>
          <a:custGeom>
            <a:avLst/>
            <a:gdLst/>
            <a:ahLst/>
            <a:cxnLst/>
            <a:rect l="l" t="t" r="r" b="b"/>
            <a:pathLst>
              <a:path w="634633" h="968905">
                <a:moveTo>
                  <a:pt x="0" y="0"/>
                </a:moveTo>
                <a:lnTo>
                  <a:pt x="634633" y="0"/>
                </a:lnTo>
                <a:lnTo>
                  <a:pt x="634633" y="968905"/>
                </a:lnTo>
                <a:lnTo>
                  <a:pt x="0" y="968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he-IL"/>
          </a:p>
        </p:txBody>
      </p:sp>
      <p:sp>
        <p:nvSpPr>
          <p:cNvPr id="80" name="Freeform 80"/>
          <p:cNvSpPr/>
          <p:nvPr/>
        </p:nvSpPr>
        <p:spPr>
          <a:xfrm rot="-10776816">
            <a:off x="3878290" y="7444300"/>
            <a:ext cx="634633" cy="968905"/>
          </a:xfrm>
          <a:custGeom>
            <a:avLst/>
            <a:gdLst/>
            <a:ahLst/>
            <a:cxnLst/>
            <a:rect l="l" t="t" r="r" b="b"/>
            <a:pathLst>
              <a:path w="634633" h="968905">
                <a:moveTo>
                  <a:pt x="0" y="0"/>
                </a:moveTo>
                <a:lnTo>
                  <a:pt x="634632" y="0"/>
                </a:lnTo>
                <a:lnTo>
                  <a:pt x="634632" y="968905"/>
                </a:lnTo>
                <a:lnTo>
                  <a:pt x="0" y="968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he-IL"/>
          </a:p>
        </p:txBody>
      </p:sp>
      <p:sp>
        <p:nvSpPr>
          <p:cNvPr id="81" name="Freeform 81"/>
          <p:cNvSpPr/>
          <p:nvPr/>
        </p:nvSpPr>
        <p:spPr>
          <a:xfrm rot="-10776816">
            <a:off x="10110399" y="7556430"/>
            <a:ext cx="634633" cy="968905"/>
          </a:xfrm>
          <a:custGeom>
            <a:avLst/>
            <a:gdLst/>
            <a:ahLst/>
            <a:cxnLst/>
            <a:rect l="l" t="t" r="r" b="b"/>
            <a:pathLst>
              <a:path w="634633" h="968905">
                <a:moveTo>
                  <a:pt x="0" y="0"/>
                </a:moveTo>
                <a:lnTo>
                  <a:pt x="634633" y="0"/>
                </a:lnTo>
                <a:lnTo>
                  <a:pt x="634633" y="968905"/>
                </a:lnTo>
                <a:lnTo>
                  <a:pt x="0" y="968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he-IL"/>
          </a:p>
        </p:txBody>
      </p:sp>
      <p:sp>
        <p:nvSpPr>
          <p:cNvPr id="82" name="Freeform 82"/>
          <p:cNvSpPr/>
          <p:nvPr/>
        </p:nvSpPr>
        <p:spPr>
          <a:xfrm rot="-10776816">
            <a:off x="3915048" y="7310016"/>
            <a:ext cx="634633" cy="968905"/>
          </a:xfrm>
          <a:custGeom>
            <a:avLst/>
            <a:gdLst/>
            <a:ahLst/>
            <a:cxnLst/>
            <a:rect l="l" t="t" r="r" b="b"/>
            <a:pathLst>
              <a:path w="634633" h="968905">
                <a:moveTo>
                  <a:pt x="0" y="0"/>
                </a:moveTo>
                <a:lnTo>
                  <a:pt x="634633" y="0"/>
                </a:lnTo>
                <a:lnTo>
                  <a:pt x="634633" y="968905"/>
                </a:lnTo>
                <a:lnTo>
                  <a:pt x="0" y="968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he-IL"/>
          </a:p>
        </p:txBody>
      </p:sp>
      <p:sp>
        <p:nvSpPr>
          <p:cNvPr id="83" name="Freeform 83"/>
          <p:cNvSpPr/>
          <p:nvPr/>
        </p:nvSpPr>
        <p:spPr>
          <a:xfrm rot="-10776816">
            <a:off x="10073640" y="7423699"/>
            <a:ext cx="634633" cy="968905"/>
          </a:xfrm>
          <a:custGeom>
            <a:avLst/>
            <a:gdLst/>
            <a:ahLst/>
            <a:cxnLst/>
            <a:rect l="l" t="t" r="r" b="b"/>
            <a:pathLst>
              <a:path w="634633" h="968905">
                <a:moveTo>
                  <a:pt x="0" y="0"/>
                </a:moveTo>
                <a:lnTo>
                  <a:pt x="634633" y="0"/>
                </a:lnTo>
                <a:lnTo>
                  <a:pt x="634633" y="968905"/>
                </a:lnTo>
                <a:lnTo>
                  <a:pt x="0" y="968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he-IL"/>
          </a:p>
        </p:txBody>
      </p:sp>
      <p:sp>
        <p:nvSpPr>
          <p:cNvPr id="84" name="Freeform 84"/>
          <p:cNvSpPr/>
          <p:nvPr/>
        </p:nvSpPr>
        <p:spPr>
          <a:xfrm rot="-10776816">
            <a:off x="3878290" y="7177285"/>
            <a:ext cx="634633" cy="968905"/>
          </a:xfrm>
          <a:custGeom>
            <a:avLst/>
            <a:gdLst/>
            <a:ahLst/>
            <a:cxnLst/>
            <a:rect l="l" t="t" r="r" b="b"/>
            <a:pathLst>
              <a:path w="634633" h="968905">
                <a:moveTo>
                  <a:pt x="0" y="0"/>
                </a:moveTo>
                <a:lnTo>
                  <a:pt x="634632" y="0"/>
                </a:lnTo>
                <a:lnTo>
                  <a:pt x="634632" y="968904"/>
                </a:lnTo>
                <a:lnTo>
                  <a:pt x="0" y="9689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he-IL"/>
          </a:p>
        </p:txBody>
      </p:sp>
      <p:sp>
        <p:nvSpPr>
          <p:cNvPr id="85" name="Freeform 85"/>
          <p:cNvSpPr/>
          <p:nvPr/>
        </p:nvSpPr>
        <p:spPr>
          <a:xfrm rot="276474">
            <a:off x="10054522" y="7540552"/>
            <a:ext cx="655434" cy="1000662"/>
          </a:xfrm>
          <a:custGeom>
            <a:avLst/>
            <a:gdLst/>
            <a:ahLst/>
            <a:cxnLst/>
            <a:rect l="l" t="t" r="r" b="b"/>
            <a:pathLst>
              <a:path w="655434" h="1000662">
                <a:moveTo>
                  <a:pt x="0" y="0"/>
                </a:moveTo>
                <a:lnTo>
                  <a:pt x="655434" y="0"/>
                </a:lnTo>
                <a:lnTo>
                  <a:pt x="655434" y="1000662"/>
                </a:lnTo>
                <a:lnTo>
                  <a:pt x="0" y="10006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he-IL"/>
          </a:p>
        </p:txBody>
      </p:sp>
      <p:sp>
        <p:nvSpPr>
          <p:cNvPr id="86" name="Freeform 86"/>
          <p:cNvSpPr/>
          <p:nvPr/>
        </p:nvSpPr>
        <p:spPr>
          <a:xfrm rot="276474">
            <a:off x="3859171" y="7294137"/>
            <a:ext cx="655434" cy="1000662"/>
          </a:xfrm>
          <a:custGeom>
            <a:avLst/>
            <a:gdLst/>
            <a:ahLst/>
            <a:cxnLst/>
            <a:rect l="l" t="t" r="r" b="b"/>
            <a:pathLst>
              <a:path w="655434" h="1000662">
                <a:moveTo>
                  <a:pt x="0" y="0"/>
                </a:moveTo>
                <a:lnTo>
                  <a:pt x="655434" y="0"/>
                </a:lnTo>
                <a:lnTo>
                  <a:pt x="655434" y="1000662"/>
                </a:lnTo>
                <a:lnTo>
                  <a:pt x="0" y="10006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he-IL"/>
          </a:p>
        </p:txBody>
      </p:sp>
      <p:sp>
        <p:nvSpPr>
          <p:cNvPr id="87" name="Freeform 87"/>
          <p:cNvSpPr/>
          <p:nvPr/>
        </p:nvSpPr>
        <p:spPr>
          <a:xfrm rot="304961">
            <a:off x="8373769" y="6338569"/>
            <a:ext cx="587043" cy="896249"/>
          </a:xfrm>
          <a:custGeom>
            <a:avLst/>
            <a:gdLst/>
            <a:ahLst/>
            <a:cxnLst/>
            <a:rect l="l" t="t" r="r" b="b"/>
            <a:pathLst>
              <a:path w="587043" h="896249">
                <a:moveTo>
                  <a:pt x="0" y="0"/>
                </a:moveTo>
                <a:lnTo>
                  <a:pt x="587043" y="0"/>
                </a:lnTo>
                <a:lnTo>
                  <a:pt x="587043" y="896249"/>
                </a:lnTo>
                <a:lnTo>
                  <a:pt x="0" y="8962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he-IL"/>
          </a:p>
        </p:txBody>
      </p:sp>
      <p:sp>
        <p:nvSpPr>
          <p:cNvPr id="88" name="Freeform 88"/>
          <p:cNvSpPr/>
          <p:nvPr/>
        </p:nvSpPr>
        <p:spPr>
          <a:xfrm rot="304961">
            <a:off x="3985879" y="7574832"/>
            <a:ext cx="587043" cy="896249"/>
          </a:xfrm>
          <a:custGeom>
            <a:avLst/>
            <a:gdLst/>
            <a:ahLst/>
            <a:cxnLst/>
            <a:rect l="l" t="t" r="r" b="b"/>
            <a:pathLst>
              <a:path w="587043" h="896249">
                <a:moveTo>
                  <a:pt x="0" y="0"/>
                </a:moveTo>
                <a:lnTo>
                  <a:pt x="587043" y="0"/>
                </a:lnTo>
                <a:lnTo>
                  <a:pt x="587043" y="896249"/>
                </a:lnTo>
                <a:lnTo>
                  <a:pt x="0" y="8962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he-IL"/>
          </a:p>
        </p:txBody>
      </p:sp>
      <p:sp>
        <p:nvSpPr>
          <p:cNvPr id="89" name="Freeform 89"/>
          <p:cNvSpPr/>
          <p:nvPr/>
        </p:nvSpPr>
        <p:spPr>
          <a:xfrm rot="304961">
            <a:off x="8277962" y="6381324"/>
            <a:ext cx="587043" cy="896249"/>
          </a:xfrm>
          <a:custGeom>
            <a:avLst/>
            <a:gdLst/>
            <a:ahLst/>
            <a:cxnLst/>
            <a:rect l="l" t="t" r="r" b="b"/>
            <a:pathLst>
              <a:path w="587043" h="896249">
                <a:moveTo>
                  <a:pt x="0" y="0"/>
                </a:moveTo>
                <a:lnTo>
                  <a:pt x="587043" y="0"/>
                </a:lnTo>
                <a:lnTo>
                  <a:pt x="587043" y="896249"/>
                </a:lnTo>
                <a:lnTo>
                  <a:pt x="0" y="8962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he-IL"/>
          </a:p>
        </p:txBody>
      </p:sp>
      <p:sp>
        <p:nvSpPr>
          <p:cNvPr id="90" name="Freeform 90"/>
          <p:cNvSpPr/>
          <p:nvPr/>
        </p:nvSpPr>
        <p:spPr>
          <a:xfrm rot="304961">
            <a:off x="3890072" y="7617587"/>
            <a:ext cx="587043" cy="896249"/>
          </a:xfrm>
          <a:custGeom>
            <a:avLst/>
            <a:gdLst/>
            <a:ahLst/>
            <a:cxnLst/>
            <a:rect l="l" t="t" r="r" b="b"/>
            <a:pathLst>
              <a:path w="587043" h="896249">
                <a:moveTo>
                  <a:pt x="0" y="0"/>
                </a:moveTo>
                <a:lnTo>
                  <a:pt x="587043" y="0"/>
                </a:lnTo>
                <a:lnTo>
                  <a:pt x="587043" y="896249"/>
                </a:lnTo>
                <a:lnTo>
                  <a:pt x="0" y="8962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he-IL"/>
          </a:p>
        </p:txBody>
      </p:sp>
      <p:sp>
        <p:nvSpPr>
          <p:cNvPr id="91" name="Freeform 91"/>
          <p:cNvSpPr/>
          <p:nvPr/>
        </p:nvSpPr>
        <p:spPr>
          <a:xfrm rot="304961">
            <a:off x="8373283" y="6107406"/>
            <a:ext cx="587043" cy="896249"/>
          </a:xfrm>
          <a:custGeom>
            <a:avLst/>
            <a:gdLst/>
            <a:ahLst/>
            <a:cxnLst/>
            <a:rect l="l" t="t" r="r" b="b"/>
            <a:pathLst>
              <a:path w="587043" h="896249">
                <a:moveTo>
                  <a:pt x="0" y="0"/>
                </a:moveTo>
                <a:lnTo>
                  <a:pt x="587043" y="0"/>
                </a:lnTo>
                <a:lnTo>
                  <a:pt x="587043" y="896249"/>
                </a:lnTo>
                <a:lnTo>
                  <a:pt x="0" y="8962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he-IL"/>
          </a:p>
        </p:txBody>
      </p:sp>
      <p:sp>
        <p:nvSpPr>
          <p:cNvPr id="92" name="Freeform 92"/>
          <p:cNvSpPr/>
          <p:nvPr/>
        </p:nvSpPr>
        <p:spPr>
          <a:xfrm rot="304961">
            <a:off x="3985393" y="7343669"/>
            <a:ext cx="587043" cy="896249"/>
          </a:xfrm>
          <a:custGeom>
            <a:avLst/>
            <a:gdLst/>
            <a:ahLst/>
            <a:cxnLst/>
            <a:rect l="l" t="t" r="r" b="b"/>
            <a:pathLst>
              <a:path w="587043" h="896249">
                <a:moveTo>
                  <a:pt x="0" y="0"/>
                </a:moveTo>
                <a:lnTo>
                  <a:pt x="587043" y="0"/>
                </a:lnTo>
                <a:lnTo>
                  <a:pt x="587043" y="896249"/>
                </a:lnTo>
                <a:lnTo>
                  <a:pt x="0" y="8962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he-IL"/>
          </a:p>
        </p:txBody>
      </p:sp>
      <p:grpSp>
        <p:nvGrpSpPr>
          <p:cNvPr id="93" name="Group 93"/>
          <p:cNvGrpSpPr/>
          <p:nvPr/>
        </p:nvGrpSpPr>
        <p:grpSpPr>
          <a:xfrm rot="-10274290">
            <a:off x="14589460" y="7117525"/>
            <a:ext cx="870142" cy="940196"/>
            <a:chOff x="0" y="0"/>
            <a:chExt cx="1160190" cy="1253594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1160190" cy="1253594"/>
            </a:xfrm>
            <a:custGeom>
              <a:avLst/>
              <a:gdLst/>
              <a:ahLst/>
              <a:cxnLst/>
              <a:rect l="l" t="t" r="r" b="b"/>
              <a:pathLst>
                <a:path w="1160190" h="1253594">
                  <a:moveTo>
                    <a:pt x="0" y="0"/>
                  </a:moveTo>
                  <a:lnTo>
                    <a:pt x="1160190" y="0"/>
                  </a:lnTo>
                  <a:lnTo>
                    <a:pt x="1160190" y="1253594"/>
                  </a:lnTo>
                  <a:lnTo>
                    <a:pt x="0" y="12535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23249"/>
              </a:stretch>
            </a:blipFill>
          </p:spPr>
          <p:txBody>
            <a:bodyPr/>
            <a:lstStyle/>
            <a:p>
              <a:endParaRPr lang="he-IL"/>
            </a:p>
          </p:txBody>
        </p:sp>
        <p:sp>
          <p:nvSpPr>
            <p:cNvPr id="95" name="Freeform 95"/>
            <p:cNvSpPr/>
            <p:nvPr/>
          </p:nvSpPr>
          <p:spPr>
            <a:xfrm>
              <a:off x="312831" y="389968"/>
              <a:ext cx="534527" cy="443657"/>
            </a:xfrm>
            <a:custGeom>
              <a:avLst/>
              <a:gdLst/>
              <a:ahLst/>
              <a:cxnLst/>
              <a:rect l="l" t="t" r="r" b="b"/>
              <a:pathLst>
                <a:path w="534527" h="443657">
                  <a:moveTo>
                    <a:pt x="0" y="0"/>
                  </a:moveTo>
                  <a:lnTo>
                    <a:pt x="534528" y="0"/>
                  </a:lnTo>
                  <a:lnTo>
                    <a:pt x="534528" y="443657"/>
                  </a:lnTo>
                  <a:lnTo>
                    <a:pt x="0" y="443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he-IL"/>
            </a:p>
          </p:txBody>
        </p:sp>
      </p:grpSp>
      <p:sp>
        <p:nvSpPr>
          <p:cNvPr id="96" name="Freeform 96"/>
          <p:cNvSpPr/>
          <p:nvPr/>
        </p:nvSpPr>
        <p:spPr>
          <a:xfrm rot="-8752189">
            <a:off x="14712241" y="5574812"/>
            <a:ext cx="1427784" cy="1894241"/>
          </a:xfrm>
          <a:custGeom>
            <a:avLst/>
            <a:gdLst/>
            <a:ahLst/>
            <a:cxnLst/>
            <a:rect l="l" t="t" r="r" b="b"/>
            <a:pathLst>
              <a:path w="1427784" h="1894241">
                <a:moveTo>
                  <a:pt x="0" y="0"/>
                </a:moveTo>
                <a:lnTo>
                  <a:pt x="1427784" y="0"/>
                </a:lnTo>
                <a:lnTo>
                  <a:pt x="1427784" y="1894241"/>
                </a:lnTo>
                <a:lnTo>
                  <a:pt x="0" y="18942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97" name="Freeform 97"/>
          <p:cNvSpPr/>
          <p:nvPr/>
        </p:nvSpPr>
        <p:spPr>
          <a:xfrm rot="8317887">
            <a:off x="622525" y="5671961"/>
            <a:ext cx="1333964" cy="1769769"/>
          </a:xfrm>
          <a:custGeom>
            <a:avLst/>
            <a:gdLst/>
            <a:ahLst/>
            <a:cxnLst/>
            <a:rect l="l" t="t" r="r" b="b"/>
            <a:pathLst>
              <a:path w="1333964" h="1769769">
                <a:moveTo>
                  <a:pt x="0" y="0"/>
                </a:moveTo>
                <a:lnTo>
                  <a:pt x="1333964" y="0"/>
                </a:lnTo>
                <a:lnTo>
                  <a:pt x="1333964" y="1769769"/>
                </a:lnTo>
                <a:lnTo>
                  <a:pt x="0" y="17697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98" name="Freeform 98"/>
          <p:cNvSpPr/>
          <p:nvPr/>
        </p:nvSpPr>
        <p:spPr>
          <a:xfrm rot="-10390522" flipH="1">
            <a:off x="891760" y="5452435"/>
            <a:ext cx="1333964" cy="1769769"/>
          </a:xfrm>
          <a:custGeom>
            <a:avLst/>
            <a:gdLst/>
            <a:ahLst/>
            <a:cxnLst/>
            <a:rect l="l" t="t" r="r" b="b"/>
            <a:pathLst>
              <a:path w="1333964" h="1769769">
                <a:moveTo>
                  <a:pt x="1333963" y="0"/>
                </a:moveTo>
                <a:lnTo>
                  <a:pt x="0" y="0"/>
                </a:lnTo>
                <a:lnTo>
                  <a:pt x="0" y="1769770"/>
                </a:lnTo>
                <a:lnTo>
                  <a:pt x="1333963" y="1769770"/>
                </a:lnTo>
                <a:lnTo>
                  <a:pt x="133396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99" name="TextBox 99"/>
          <p:cNvSpPr txBox="1"/>
          <p:nvPr/>
        </p:nvSpPr>
        <p:spPr>
          <a:xfrm>
            <a:off x="13539110" y="3765765"/>
            <a:ext cx="2689844" cy="337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400"/>
              </a:lnSpc>
              <a:spcBef>
                <a:spcPct val="0"/>
              </a:spcBef>
            </a:pPr>
            <a:r>
              <a:rPr lang="he-IL" sz="2400" spc="-48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  <a:rtl/>
              </a:rPr>
              <a:t>מערבבים את הקלפים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8081048" y="3765765"/>
            <a:ext cx="3193260" cy="641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2400"/>
              </a:lnSpc>
              <a:spcBef>
                <a:spcPct val="0"/>
              </a:spcBef>
            </a:pPr>
            <a:r>
              <a:rPr lang="he-IL" sz="2400" spc="-48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  <a:rtl/>
              </a:rPr>
              <a:t>חוצים את החבילה ומניחים בשתי ערמות שוות  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13048800" y="9187815"/>
            <a:ext cx="4022640" cy="1251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2400"/>
              </a:lnSpc>
            </a:pPr>
            <a:r>
              <a:rPr lang="he-IL" sz="2400" spc="-48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  <a:rtl/>
              </a:rPr>
              <a:t>התלמיד נעזר באחד מהפתקים עם סימוני החשבון, וצריך למקם את הסימן המתאים בין הקלפים </a:t>
            </a:r>
          </a:p>
          <a:p>
            <a:pPr algn="ctr" rtl="1">
              <a:lnSpc>
                <a:spcPts val="2400"/>
              </a:lnSpc>
              <a:spcBef>
                <a:spcPct val="0"/>
              </a:spcBef>
            </a:pPr>
            <a:endParaRPr lang="he-IL" sz="2400" spc="-48">
              <a:solidFill>
                <a:srgbClr val="FFFFFF"/>
              </a:solidFill>
              <a:latin typeface="Rubik"/>
              <a:ea typeface="Rubik"/>
              <a:cs typeface="Rubik"/>
              <a:sym typeface="Rubik"/>
              <a:rtl/>
            </a:endParaRPr>
          </a:p>
        </p:txBody>
      </p:sp>
      <p:sp>
        <p:nvSpPr>
          <p:cNvPr id="102" name="TextBox 102"/>
          <p:cNvSpPr txBox="1"/>
          <p:nvPr/>
        </p:nvSpPr>
        <p:spPr>
          <a:xfrm>
            <a:off x="7666358" y="9187815"/>
            <a:ext cx="4022640" cy="641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2400"/>
              </a:lnSpc>
              <a:spcBef>
                <a:spcPct val="0"/>
              </a:spcBef>
            </a:pPr>
            <a:r>
              <a:rPr lang="he-IL" sz="2400" spc="-48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  <a:rtl/>
              </a:rPr>
              <a:t>אם התלמיד טועה, היריב לוקח את הקלפים ושם מתחת לחפיסה שלו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1253721" y="9187815"/>
            <a:ext cx="4022640" cy="641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2400"/>
              </a:lnSpc>
            </a:pPr>
            <a:r>
              <a:rPr lang="he-IL" sz="2400" spc="-48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  <a:rtl/>
              </a:rPr>
              <a:t>מי שנגמרים לו הקלפים</a:t>
            </a:r>
          </a:p>
          <a:p>
            <a:pPr algn="ctr" rtl="1">
              <a:lnSpc>
                <a:spcPts val="2400"/>
              </a:lnSpc>
              <a:spcBef>
                <a:spcPct val="0"/>
              </a:spcBef>
            </a:pPr>
            <a:r>
              <a:rPr lang="he-IL" sz="2400" spc="-48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  <a:rtl/>
              </a:rPr>
              <a:t> ראשון, מפסיד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1289507" y="3765765"/>
            <a:ext cx="4203715" cy="946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2400"/>
              </a:lnSpc>
              <a:spcBef>
                <a:spcPct val="0"/>
              </a:spcBef>
            </a:pPr>
            <a:r>
              <a:rPr lang="he-IL" sz="2400" spc="-48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  <a:rtl/>
              </a:rPr>
              <a:t>שולפים באותו הזמן קלף, כל אחד מהערמה שלו ומניחים אותו על השולחן כשהמספר כלפי מעלה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128" b="-10128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TextBox 3"/>
          <p:cNvSpPr txBox="1"/>
          <p:nvPr/>
        </p:nvSpPr>
        <p:spPr>
          <a:xfrm>
            <a:off x="13413085" y="1114425"/>
            <a:ext cx="3846215" cy="761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5600"/>
              </a:lnSpc>
              <a:spcBef>
                <a:spcPct val="0"/>
              </a:spcBef>
            </a:pPr>
            <a:r>
              <a:rPr lang="he-IL" sz="5600" b="1" spc="-112">
                <a:solidFill>
                  <a:srgbClr val="264F73"/>
                </a:solidFill>
                <a:latin typeface="Rubik Bold"/>
                <a:ea typeface="Rubik Bold"/>
                <a:cs typeface="Rubik Bold"/>
                <a:sym typeface="Rubik Bold"/>
                <a:rtl/>
              </a:rPr>
              <a:t>השראה מכם!</a:t>
            </a:r>
          </a:p>
        </p:txBody>
      </p:sp>
      <p:sp>
        <p:nvSpPr>
          <p:cNvPr id="4" name="Freeform 4"/>
          <p:cNvSpPr/>
          <p:nvPr/>
        </p:nvSpPr>
        <p:spPr>
          <a:xfrm>
            <a:off x="12592982" y="526206"/>
            <a:ext cx="708999" cy="926039"/>
          </a:xfrm>
          <a:custGeom>
            <a:avLst/>
            <a:gdLst/>
            <a:ahLst/>
            <a:cxnLst/>
            <a:rect l="l" t="t" r="r" b="b"/>
            <a:pathLst>
              <a:path w="708999" h="926039">
                <a:moveTo>
                  <a:pt x="708998" y="926039"/>
                </a:moveTo>
                <a:lnTo>
                  <a:pt x="708998" y="605895"/>
                </a:lnTo>
                <a:cubicBezTo>
                  <a:pt x="708998" y="568002"/>
                  <a:pt x="693945" y="531661"/>
                  <a:pt x="667151" y="504867"/>
                </a:cubicBezTo>
                <a:cubicBezTo>
                  <a:pt x="640358" y="478073"/>
                  <a:pt x="604016" y="463020"/>
                  <a:pt x="566123" y="463020"/>
                </a:cubicBezTo>
                <a:lnTo>
                  <a:pt x="142875" y="463020"/>
                </a:lnTo>
                <a:cubicBezTo>
                  <a:pt x="63967" y="463020"/>
                  <a:pt x="0" y="399052"/>
                  <a:pt x="0" y="320145"/>
                </a:cubicBezTo>
                <a:lnTo>
                  <a:pt x="0" y="0"/>
                </a:lnTo>
              </a:path>
            </a:pathLst>
          </a:custGeom>
          <a:ln w="47625" cap="rnd">
            <a:solidFill>
              <a:srgbClr val="F2C762">
                <a:alpha val="80000"/>
              </a:srgbClr>
            </a:solidFill>
            <a:prstDash val="sysDash"/>
            <a:headEnd type="none" w="sm" len="sm"/>
            <a:tailEnd type="oval" w="lg" len="lg"/>
          </a:ln>
        </p:spPr>
        <p:txBody>
          <a:bodyPr/>
          <a:lstStyle/>
          <a:p>
            <a:endParaRPr lang="he-IL"/>
          </a:p>
        </p:txBody>
      </p:sp>
      <p:sp>
        <p:nvSpPr>
          <p:cNvPr id="5" name="Freeform 5"/>
          <p:cNvSpPr/>
          <p:nvPr/>
        </p:nvSpPr>
        <p:spPr>
          <a:xfrm>
            <a:off x="15300888" y="274777"/>
            <a:ext cx="382448" cy="382448"/>
          </a:xfrm>
          <a:custGeom>
            <a:avLst/>
            <a:gdLst/>
            <a:ahLst/>
            <a:cxnLst/>
            <a:rect l="l" t="t" r="r" b="b"/>
            <a:pathLst>
              <a:path w="382448" h="382448">
                <a:moveTo>
                  <a:pt x="0" y="0"/>
                </a:moveTo>
                <a:lnTo>
                  <a:pt x="382448" y="0"/>
                </a:lnTo>
                <a:lnTo>
                  <a:pt x="382448" y="382448"/>
                </a:lnTo>
                <a:lnTo>
                  <a:pt x="0" y="3824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6" name="Freeform 6"/>
          <p:cNvSpPr/>
          <p:nvPr/>
        </p:nvSpPr>
        <p:spPr>
          <a:xfrm>
            <a:off x="13851323" y="274777"/>
            <a:ext cx="382448" cy="382448"/>
          </a:xfrm>
          <a:custGeom>
            <a:avLst/>
            <a:gdLst/>
            <a:ahLst/>
            <a:cxnLst/>
            <a:rect l="l" t="t" r="r" b="b"/>
            <a:pathLst>
              <a:path w="382448" h="382448">
                <a:moveTo>
                  <a:pt x="0" y="0"/>
                </a:moveTo>
                <a:lnTo>
                  <a:pt x="382448" y="0"/>
                </a:lnTo>
                <a:lnTo>
                  <a:pt x="382448" y="382448"/>
                </a:lnTo>
                <a:lnTo>
                  <a:pt x="0" y="3824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7" name="Freeform 7"/>
          <p:cNvSpPr/>
          <p:nvPr/>
        </p:nvSpPr>
        <p:spPr>
          <a:xfrm>
            <a:off x="16876852" y="274777"/>
            <a:ext cx="382448" cy="382448"/>
          </a:xfrm>
          <a:custGeom>
            <a:avLst/>
            <a:gdLst/>
            <a:ahLst/>
            <a:cxnLst/>
            <a:rect l="l" t="t" r="r" b="b"/>
            <a:pathLst>
              <a:path w="382448" h="382448">
                <a:moveTo>
                  <a:pt x="0" y="0"/>
                </a:moveTo>
                <a:lnTo>
                  <a:pt x="382448" y="0"/>
                </a:lnTo>
                <a:lnTo>
                  <a:pt x="382448" y="382448"/>
                </a:lnTo>
                <a:lnTo>
                  <a:pt x="0" y="3824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8" name="AutoShape 8"/>
          <p:cNvSpPr/>
          <p:nvPr/>
        </p:nvSpPr>
        <p:spPr>
          <a:xfrm flipH="1" flipV="1">
            <a:off x="15683336" y="466001"/>
            <a:ext cx="1193516" cy="0"/>
          </a:xfrm>
          <a:prstGeom prst="line">
            <a:avLst/>
          </a:prstGeom>
          <a:ln w="47625" cap="rnd">
            <a:solidFill>
              <a:srgbClr val="F2C762">
                <a:alpha val="80000"/>
              </a:srgbClr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he-IL"/>
          </a:p>
        </p:txBody>
      </p:sp>
      <p:sp>
        <p:nvSpPr>
          <p:cNvPr id="9" name="AutoShape 9"/>
          <p:cNvSpPr/>
          <p:nvPr/>
        </p:nvSpPr>
        <p:spPr>
          <a:xfrm flipH="1">
            <a:off x="14233771" y="466001"/>
            <a:ext cx="1067117" cy="0"/>
          </a:xfrm>
          <a:prstGeom prst="line">
            <a:avLst/>
          </a:prstGeom>
          <a:ln w="47625" cap="rnd">
            <a:solidFill>
              <a:srgbClr val="F2C762">
                <a:alpha val="80000"/>
              </a:srgbClr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he-IL"/>
          </a:p>
        </p:txBody>
      </p:sp>
      <p:sp>
        <p:nvSpPr>
          <p:cNvPr id="10" name="AutoShape 10"/>
          <p:cNvSpPr/>
          <p:nvPr/>
        </p:nvSpPr>
        <p:spPr>
          <a:xfrm flipH="1">
            <a:off x="12784206" y="466001"/>
            <a:ext cx="1067117" cy="0"/>
          </a:xfrm>
          <a:prstGeom prst="line">
            <a:avLst/>
          </a:prstGeom>
          <a:ln w="47625" cap="rnd">
            <a:solidFill>
              <a:srgbClr val="F2C762">
                <a:alpha val="80000"/>
              </a:srgbClr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he-IL"/>
          </a:p>
        </p:txBody>
      </p:sp>
      <p:sp>
        <p:nvSpPr>
          <p:cNvPr id="11" name="Freeform 11"/>
          <p:cNvSpPr/>
          <p:nvPr/>
        </p:nvSpPr>
        <p:spPr>
          <a:xfrm>
            <a:off x="12401758" y="274777"/>
            <a:ext cx="382448" cy="382448"/>
          </a:xfrm>
          <a:custGeom>
            <a:avLst/>
            <a:gdLst/>
            <a:ahLst/>
            <a:cxnLst/>
            <a:rect l="l" t="t" r="r" b="b"/>
            <a:pathLst>
              <a:path w="382448" h="382448">
                <a:moveTo>
                  <a:pt x="0" y="0"/>
                </a:moveTo>
                <a:lnTo>
                  <a:pt x="382448" y="0"/>
                </a:lnTo>
                <a:lnTo>
                  <a:pt x="382448" y="382448"/>
                </a:lnTo>
                <a:lnTo>
                  <a:pt x="0" y="3824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2" name="TextBox 12"/>
          <p:cNvSpPr txBox="1"/>
          <p:nvPr/>
        </p:nvSpPr>
        <p:spPr>
          <a:xfrm>
            <a:off x="15164938" y="770572"/>
            <a:ext cx="654348" cy="163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1200"/>
              </a:lnSpc>
              <a:spcBef>
                <a:spcPct val="0"/>
              </a:spcBef>
            </a:pPr>
            <a:r>
              <a:rPr lang="he-IL" sz="1200" spc="-24">
                <a:solidFill>
                  <a:srgbClr val="264F73"/>
                </a:solidFill>
                <a:latin typeface="Rubik"/>
                <a:ea typeface="Rubik"/>
                <a:cs typeface="Rubik"/>
                <a:sym typeface="Rubik"/>
                <a:rtl/>
              </a:rPr>
              <a:t>עזרי עבודה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751419" y="770572"/>
            <a:ext cx="633313" cy="163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1200"/>
              </a:lnSpc>
              <a:spcBef>
                <a:spcPct val="0"/>
              </a:spcBef>
            </a:pPr>
            <a:r>
              <a:rPr lang="he-IL" sz="1200" spc="-24">
                <a:solidFill>
                  <a:srgbClr val="264F73"/>
                </a:solidFill>
                <a:latin typeface="Rubik"/>
                <a:ea typeface="Rubik"/>
                <a:cs typeface="Rubik"/>
                <a:sym typeface="Rubik"/>
                <a:rtl/>
              </a:rPr>
              <a:t>תוכן לימודי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740376" y="770572"/>
            <a:ext cx="604341" cy="163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1200"/>
              </a:lnSpc>
              <a:spcBef>
                <a:spcPct val="0"/>
              </a:spcBef>
            </a:pPr>
            <a:r>
              <a:rPr lang="he-IL" sz="1200" spc="-24">
                <a:solidFill>
                  <a:srgbClr val="264F73"/>
                </a:solidFill>
                <a:latin typeface="Rubik"/>
                <a:ea typeface="Rubik"/>
                <a:cs typeface="Rubik"/>
                <a:sym typeface="Rubik"/>
                <a:rtl/>
              </a:rPr>
              <a:t>ארגז כלים</a:t>
            </a:r>
          </a:p>
        </p:txBody>
      </p:sp>
      <p:sp>
        <p:nvSpPr>
          <p:cNvPr id="15" name="Freeform 15"/>
          <p:cNvSpPr/>
          <p:nvPr/>
        </p:nvSpPr>
        <p:spPr>
          <a:xfrm flipH="1">
            <a:off x="15819286" y="6787703"/>
            <a:ext cx="2468714" cy="3499297"/>
          </a:xfrm>
          <a:custGeom>
            <a:avLst/>
            <a:gdLst/>
            <a:ahLst/>
            <a:cxnLst/>
            <a:rect l="l" t="t" r="r" b="b"/>
            <a:pathLst>
              <a:path w="2468714" h="3499297">
                <a:moveTo>
                  <a:pt x="2468714" y="0"/>
                </a:moveTo>
                <a:lnTo>
                  <a:pt x="0" y="0"/>
                </a:lnTo>
                <a:lnTo>
                  <a:pt x="0" y="3499297"/>
                </a:lnTo>
                <a:lnTo>
                  <a:pt x="2468714" y="3499297"/>
                </a:lnTo>
                <a:lnTo>
                  <a:pt x="2468714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6" name="תיבת טקסט 15">
            <a:extLst>
              <a:ext uri="{FF2B5EF4-FFF2-40B4-BE49-F238E27FC236}">
                <a16:creationId xmlns:a16="http://schemas.microsoft.com/office/drawing/2014/main" id="{ED9E2D44-605E-3349-FA7B-2665C401FB26}"/>
              </a:ext>
            </a:extLst>
          </p:cNvPr>
          <p:cNvSpPr txBox="1"/>
          <p:nvPr/>
        </p:nvSpPr>
        <p:spPr>
          <a:xfrm>
            <a:off x="11582400" y="2212426"/>
            <a:ext cx="5676900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2400" dirty="0">
                <a:solidFill>
                  <a:srgbClr val="264F73"/>
                </a:solidFill>
                <a:latin typeface="Rubik" pitchFamily="2" charset="-79"/>
                <a:cs typeface="Rubik" pitchFamily="2" charset="-79"/>
              </a:rPr>
              <a:t>היכנסו </a:t>
            </a:r>
            <a:r>
              <a:rPr lang="he-IL" sz="2400" dirty="0" err="1">
                <a:solidFill>
                  <a:srgbClr val="264F73"/>
                </a:solidFill>
                <a:latin typeface="Rubik" pitchFamily="2" charset="-79"/>
                <a:cs typeface="Rubik" pitchFamily="2" charset="-79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לפדלט</a:t>
            </a:r>
            <a:r>
              <a:rPr lang="he-IL" sz="2400" dirty="0">
                <a:solidFill>
                  <a:srgbClr val="264F73"/>
                </a:solidFill>
                <a:latin typeface="Rubik" pitchFamily="2" charset="-79"/>
                <a:cs typeface="Rubik" pitchFamily="2" charset="-79"/>
              </a:rPr>
              <a:t> להכיר משחקים שהעמיתים שלכם יצרו ולקבל </a:t>
            </a:r>
            <a:r>
              <a:rPr lang="he-IL" sz="2400">
                <a:solidFill>
                  <a:srgbClr val="264F73"/>
                </a:solidFill>
                <a:latin typeface="Rubik" pitchFamily="2" charset="-79"/>
                <a:cs typeface="Rubik" pitchFamily="2" charset="-79"/>
              </a:rPr>
              <a:t>מהם השראה</a:t>
            </a:r>
            <a:endParaRPr lang="he-IL" sz="2400" dirty="0">
              <a:solidFill>
                <a:srgbClr val="264F73"/>
              </a:solidFill>
              <a:latin typeface="Rubik" pitchFamily="2" charset="-79"/>
              <a:cs typeface="Rubik" pitchFamily="2" charset="-79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447</Words>
  <Application>Microsoft Office PowerPoint</Application>
  <PresentationFormat>מותאם אישית</PresentationFormat>
  <Paragraphs>90</Paragraphs>
  <Slides>8</Slides>
  <Notes>2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8</vt:i4>
      </vt:variant>
    </vt:vector>
  </HeadingPairs>
  <TitlesOfParts>
    <vt:vector size="14" baseType="lpstr">
      <vt:lpstr>Rubik Bold</vt:lpstr>
      <vt:lpstr>Calibri</vt:lpstr>
      <vt:lpstr>Rubik Italics</vt:lpstr>
      <vt:lpstr>Rubik</vt:lpstr>
      <vt:lpstr>Arial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צידה לדרך</dc:title>
  <cp:lastModifiedBy>Eden Ben David</cp:lastModifiedBy>
  <cp:revision>5</cp:revision>
  <dcterms:created xsi:type="dcterms:W3CDTF">2006-08-16T00:00:00Z</dcterms:created>
  <dcterms:modified xsi:type="dcterms:W3CDTF">2026-05-27T18:29:51Z</dcterms:modified>
  <dc:identifier>DAHKw_WzdWU</dc:identifier>
</cp:coreProperties>
</file>